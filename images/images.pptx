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2"/>
  </p:sldMasterIdLst>
  <p:notesMasterIdLst>
    <p:notesMasterId r:id="rId11"/>
  </p:notesMasterIdLst>
  <p:handoutMasterIdLst>
    <p:handoutMasterId r:id="rId12"/>
  </p:handoutMasterIdLst>
  <p:sldIdLst>
    <p:sldId id="364" r:id="rId3"/>
    <p:sldId id="433" r:id="rId4"/>
    <p:sldId id="431" r:id="rId5"/>
    <p:sldId id="458" r:id="rId6"/>
    <p:sldId id="459" r:id="rId7"/>
    <p:sldId id="455" r:id="rId8"/>
    <p:sldId id="456" r:id="rId9"/>
    <p:sldId id="457" r:id="rId10"/>
  </p:sldIdLst>
  <p:sldSz cx="9144000" cy="5715000" type="screen16x10"/>
  <p:notesSz cx="6867525" cy="9994900"/>
  <p:custDataLst>
    <p:tags r:id="rId13"/>
  </p:custDataLst>
  <p:defaultTextStyle>
    <a:defPPr>
      <a:defRPr lang="de-DE"/>
    </a:defPPr>
    <a:lvl1pPr marL="0" algn="l" defTabSz="79223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396118" algn="l" defTabSz="79223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792234" algn="l" defTabSz="79223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188351" algn="l" defTabSz="79223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584468" algn="l" defTabSz="79223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1980585" algn="l" defTabSz="79223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2376701" algn="l" defTabSz="79223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2772818" algn="l" defTabSz="79223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168934" algn="l" defTabSz="79223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277BFD9B-C780-44C3-A75E-A0C9CF9365DC}">
          <p14:sldIdLst>
            <p14:sldId id="364"/>
            <p14:sldId id="433"/>
            <p14:sldId id="431"/>
            <p14:sldId id="458"/>
            <p14:sldId id="459"/>
          </p14:sldIdLst>
        </p14:section>
        <p14:section name="Backup" id="{ECA8D179-262A-4F06-9CF0-38F626BF802D}">
          <p14:sldIdLst>
            <p14:sldId id="455"/>
            <p14:sldId id="456"/>
            <p14:sldId id="4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85">
          <p15:clr>
            <a:srgbClr val="A4A3A4"/>
          </p15:clr>
        </p15:guide>
        <p15:guide id="2" orient="horz" pos="621" userDrawn="1">
          <p15:clr>
            <a:srgbClr val="A4A3A4"/>
          </p15:clr>
        </p15:guide>
        <p15:guide id="3" orient="horz" pos="167">
          <p15:clr>
            <a:srgbClr val="A4A3A4"/>
          </p15:clr>
        </p15:guide>
        <p15:guide id="4" orient="horz" pos="2027">
          <p15:clr>
            <a:srgbClr val="A4A3A4"/>
          </p15:clr>
        </p15:guide>
        <p15:guide id="5" orient="horz" pos="3229" userDrawn="1">
          <p15:clr>
            <a:srgbClr val="A4A3A4"/>
          </p15:clr>
        </p15:guide>
        <p15:guide id="7" pos="272">
          <p15:clr>
            <a:srgbClr val="A4A3A4"/>
          </p15:clr>
        </p15:guide>
        <p15:guide id="8" pos="5488">
          <p15:clr>
            <a:srgbClr val="A4A3A4"/>
          </p15:clr>
        </p15:guide>
        <p15:guide id="9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48">
          <p15:clr>
            <a:srgbClr val="A4A3A4"/>
          </p15:clr>
        </p15:guide>
        <p15:guide id="2" pos="216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A800"/>
    <a:srgbClr val="00549F"/>
    <a:srgbClr val="8EBAE5"/>
    <a:srgbClr val="006165"/>
    <a:srgbClr val="0098A1"/>
    <a:srgbClr val="BDCD00"/>
    <a:srgbClr val="E30066"/>
    <a:srgbClr val="A11035"/>
    <a:srgbClr val="612158"/>
    <a:srgbClr val="7A6F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87" autoAdjust="0"/>
    <p:restoredTop sz="83051" autoAdjust="0"/>
  </p:normalViewPr>
  <p:slideViewPr>
    <p:cSldViewPr>
      <p:cViewPr varScale="1">
        <p:scale>
          <a:sx n="132" d="100"/>
          <a:sy n="132" d="100"/>
        </p:scale>
        <p:origin x="1104" y="120"/>
      </p:cViewPr>
      <p:guideLst>
        <p:guide orient="horz" pos="485"/>
        <p:guide orient="horz" pos="621"/>
        <p:guide orient="horz" pos="167"/>
        <p:guide orient="horz" pos="2027"/>
        <p:guide orient="horz" pos="3229"/>
        <p:guide pos="272"/>
        <p:guide pos="5488"/>
        <p:guide pos="2880"/>
      </p:guideLst>
    </p:cSldViewPr>
  </p:slideViewPr>
  <p:outlineViewPr>
    <p:cViewPr>
      <p:scale>
        <a:sx n="33" d="100"/>
        <a:sy n="33" d="100"/>
      </p:scale>
      <p:origin x="0" y="622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96" d="100"/>
          <a:sy n="96" d="100"/>
        </p:scale>
        <p:origin x="2400" y="78"/>
      </p:cViewPr>
      <p:guideLst>
        <p:guide orient="horz" pos="3148"/>
        <p:guide pos="2163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gs" Target="tags/tag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928" cy="499745"/>
          </a:xfrm>
          <a:prstGeom prst="rect">
            <a:avLst/>
          </a:prstGeom>
        </p:spPr>
        <p:txBody>
          <a:bodyPr vert="horz" lIns="96350" tIns="48175" rIns="96350" bIns="4817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0008" y="0"/>
            <a:ext cx="2975928" cy="499745"/>
          </a:xfrm>
          <a:prstGeom prst="rect">
            <a:avLst/>
          </a:prstGeom>
        </p:spPr>
        <p:txBody>
          <a:bodyPr vert="horz" lIns="96350" tIns="48175" rIns="96350" bIns="48175" rtlCol="0"/>
          <a:lstStyle>
            <a:lvl1pPr algn="r">
              <a:defRPr sz="1300"/>
            </a:lvl1pPr>
          </a:lstStyle>
          <a:p>
            <a:fld id="{BCEDB2E8-888D-4118-93F8-44C141FC7791}" type="datetimeFigureOut">
              <a:rPr lang="en-US" smtClean="0"/>
              <a:t>6/17/2018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93420"/>
            <a:ext cx="2975928" cy="499745"/>
          </a:xfrm>
          <a:prstGeom prst="rect">
            <a:avLst/>
          </a:prstGeom>
        </p:spPr>
        <p:txBody>
          <a:bodyPr vert="horz" lIns="96350" tIns="48175" rIns="96350" bIns="4817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0008" y="9493420"/>
            <a:ext cx="2975928" cy="499745"/>
          </a:xfrm>
          <a:prstGeom prst="rect">
            <a:avLst/>
          </a:prstGeom>
        </p:spPr>
        <p:txBody>
          <a:bodyPr vert="horz" lIns="96350" tIns="48175" rIns="96350" bIns="48175" rtlCol="0" anchor="b"/>
          <a:lstStyle>
            <a:lvl1pPr algn="r">
              <a:defRPr sz="1300"/>
            </a:lvl1pPr>
          </a:lstStyle>
          <a:p>
            <a:fld id="{9CDAD659-051B-4E91-98C1-0B8863C76427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311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928" cy="499745"/>
          </a:xfrm>
          <a:prstGeom prst="rect">
            <a:avLst/>
          </a:prstGeom>
        </p:spPr>
        <p:txBody>
          <a:bodyPr vert="horz" lIns="96350" tIns="48175" rIns="96350" bIns="4817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90008" y="0"/>
            <a:ext cx="2975928" cy="499745"/>
          </a:xfrm>
          <a:prstGeom prst="rect">
            <a:avLst/>
          </a:prstGeom>
        </p:spPr>
        <p:txBody>
          <a:bodyPr vert="horz" lIns="96350" tIns="48175" rIns="96350" bIns="48175" rtlCol="0"/>
          <a:lstStyle>
            <a:lvl1pPr algn="r">
              <a:defRPr sz="1300"/>
            </a:lvl1pPr>
          </a:lstStyle>
          <a:p>
            <a:fld id="{73FA5A64-B669-4AA9-A75C-DE513BCFAAFE}" type="datetimeFigureOut">
              <a:rPr lang="en-US" smtClean="0"/>
              <a:t>6/17/2018</a:t>
            </a:fld>
            <a:endParaRPr lang="en-US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749300"/>
            <a:ext cx="5994400" cy="3748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350" tIns="48175" rIns="96350" bIns="48175" rtlCol="0" anchor="ctr"/>
          <a:lstStyle/>
          <a:p>
            <a:endParaRPr lang="en-GB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6753" y="4747578"/>
            <a:ext cx="5494020" cy="4497705"/>
          </a:xfrm>
          <a:prstGeom prst="rect">
            <a:avLst/>
          </a:prstGeom>
        </p:spPr>
        <p:txBody>
          <a:bodyPr vert="horz" lIns="96350" tIns="48175" rIns="96350" bIns="48175" rtlCol="0"/>
          <a:lstStyle/>
          <a:p>
            <a:pPr lvl="0"/>
            <a:r>
              <a:rPr lang="en-US" smtClean="0"/>
              <a:t>Textmasterformat bearbeiten</a:t>
            </a:r>
          </a:p>
          <a:p>
            <a:pPr lvl="1"/>
            <a:r>
              <a:rPr lang="en-US" smtClean="0"/>
              <a:t>Zweite Ebene</a:t>
            </a:r>
          </a:p>
          <a:p>
            <a:pPr lvl="2"/>
            <a:r>
              <a:rPr lang="en-US" smtClean="0"/>
              <a:t>Dritte Ebene</a:t>
            </a:r>
          </a:p>
          <a:p>
            <a:pPr lvl="3"/>
            <a:r>
              <a:rPr lang="en-US" smtClean="0"/>
              <a:t>Vierte Ebene</a:t>
            </a:r>
          </a:p>
          <a:p>
            <a:pPr lvl="4"/>
            <a:r>
              <a:rPr lang="en-US" smtClean="0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93420"/>
            <a:ext cx="2975928" cy="499745"/>
          </a:xfrm>
          <a:prstGeom prst="rect">
            <a:avLst/>
          </a:prstGeom>
        </p:spPr>
        <p:txBody>
          <a:bodyPr vert="horz" lIns="96350" tIns="48175" rIns="96350" bIns="4817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90008" y="9493420"/>
            <a:ext cx="2975928" cy="499745"/>
          </a:xfrm>
          <a:prstGeom prst="rect">
            <a:avLst/>
          </a:prstGeom>
        </p:spPr>
        <p:txBody>
          <a:bodyPr vert="horz" lIns="96350" tIns="48175" rIns="96350" bIns="48175" rtlCol="0" anchor="b"/>
          <a:lstStyle>
            <a:lvl1pPr algn="r">
              <a:defRPr sz="1300"/>
            </a:lvl1pPr>
          </a:lstStyle>
          <a:p>
            <a:fld id="{1B1303DF-3EC5-4846-8CDB-FDE64BE2257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471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92234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396118" algn="l" defTabSz="792234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792234" algn="l" defTabSz="792234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1188351" algn="l" defTabSz="792234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1584468" algn="l" defTabSz="792234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980585" algn="l" defTabSz="792234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376701" algn="l" defTabSz="792234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772818" algn="l" defTabSz="792234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168934" algn="l" defTabSz="792234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6563" y="749300"/>
            <a:ext cx="5994400" cy="3748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1303DF-3EC5-4846-8CDB-FDE64BE2257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297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Dezentral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klappt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schon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ganz</a:t>
            </a:r>
            <a:r>
              <a:rPr lang="en-US" baseline="0" dirty="0" smtClean="0"/>
              <a:t> gut in Deutschland. </a:t>
            </a:r>
            <a:r>
              <a:rPr lang="en-US" baseline="0" dirty="0" err="1" smtClean="0"/>
              <a:t>Allerdings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hauptsächlich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für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Eigenheimbesitzer</a:t>
            </a:r>
            <a:r>
              <a:rPr lang="en-US" baseline="0" dirty="0" smtClean="0"/>
              <a:t>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Strom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fließt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hauptsächlich</a:t>
            </a:r>
            <a:r>
              <a:rPr lang="en-US" baseline="0" dirty="0" smtClean="0"/>
              <a:t> in </a:t>
            </a:r>
            <a:r>
              <a:rPr lang="en-US" baseline="0" dirty="0" err="1" smtClean="0"/>
              <a:t>eine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Richtung</a:t>
            </a:r>
            <a:r>
              <a:rPr lang="en-US" baseline="0" dirty="0" smtClean="0"/>
              <a:t>: </a:t>
            </a:r>
            <a:r>
              <a:rPr lang="en-US" baseline="0" dirty="0" err="1" smtClean="0"/>
              <a:t>Vom</a:t>
            </a:r>
            <a:r>
              <a:rPr lang="en-US" baseline="0" dirty="0" smtClean="0"/>
              <a:t> (</a:t>
            </a:r>
            <a:r>
              <a:rPr lang="en-US" baseline="0" dirty="0" err="1" smtClean="0"/>
              <a:t>regenerativen</a:t>
            </a:r>
            <a:r>
              <a:rPr lang="en-US" baseline="0" dirty="0" smtClean="0"/>
              <a:t>) </a:t>
            </a:r>
            <a:r>
              <a:rPr lang="en-US" baseline="0" dirty="0" err="1" smtClean="0"/>
              <a:t>Kraftwerk</a:t>
            </a:r>
            <a:r>
              <a:rPr lang="en-US" baseline="0" dirty="0" smtClean="0"/>
              <a:t> </a:t>
            </a:r>
            <a:r>
              <a:rPr lang="en-US" baseline="0" dirty="0" err="1" smtClean="0"/>
              <a:t>zum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Verbraucher</a:t>
            </a:r>
            <a:endParaRPr lang="en-US" baseline="0" dirty="0" smtClean="0"/>
          </a:p>
          <a:p>
            <a:r>
              <a:rPr lang="en-US" baseline="0" dirty="0" err="1" smtClean="0"/>
              <a:t>Insbesondere</a:t>
            </a:r>
            <a:r>
              <a:rPr lang="en-US" baseline="0" dirty="0" smtClean="0"/>
              <a:t> das System </a:t>
            </a:r>
            <a:r>
              <a:rPr lang="en-US" baseline="0" dirty="0" err="1" smtClean="0"/>
              <a:t>im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Haus</a:t>
            </a:r>
            <a:r>
              <a:rPr lang="en-US" baseline="0" dirty="0" smtClean="0"/>
              <a:t> </a:t>
            </a:r>
            <a:r>
              <a:rPr lang="en-US" baseline="0" dirty="0" err="1" smtClean="0"/>
              <a:t>ist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nicht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dafür</a:t>
            </a:r>
            <a:r>
              <a:rPr lang="en-US" baseline="0" dirty="0" smtClean="0"/>
              <a:t> </a:t>
            </a:r>
            <a:r>
              <a:rPr lang="en-US" baseline="0" dirty="0" err="1" smtClean="0"/>
              <a:t>ausgelegt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auch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einzuspeisen</a:t>
            </a:r>
            <a:r>
              <a:rPr lang="en-US" baseline="0" dirty="0" smtClean="0"/>
              <a:t> </a:t>
            </a:r>
            <a:r>
              <a:rPr lang="en-US" baseline="0" dirty="0" smtClean="0">
                <a:sym typeface="Wingdings" panose="05000000000000000000" pitchFamily="2" charset="2"/>
              </a:rPr>
              <a:t> </a:t>
            </a:r>
            <a:r>
              <a:rPr lang="en-US" baseline="0" dirty="0" err="1" smtClean="0">
                <a:sym typeface="Wingdings" panose="05000000000000000000" pitchFamily="2" charset="2"/>
              </a:rPr>
              <a:t>komplizierter</a:t>
            </a:r>
            <a:r>
              <a:rPr lang="en-US" baseline="0" dirty="0" smtClean="0">
                <a:sym typeface="Wingdings" panose="05000000000000000000" pitchFamily="2" charset="2"/>
              </a:rPr>
              <a:t> Anschluss </a:t>
            </a:r>
            <a:r>
              <a:rPr lang="en-US" baseline="0" dirty="0" err="1" smtClean="0">
                <a:sym typeface="Wingdings" panose="05000000000000000000" pitchFamily="2" charset="2"/>
              </a:rPr>
              <a:t>mit</a:t>
            </a:r>
            <a:r>
              <a:rPr lang="en-US" baseline="0" dirty="0" smtClean="0">
                <a:sym typeface="Wingdings" panose="05000000000000000000" pitchFamily="2" charset="2"/>
              </a:rPr>
              <a:t> </a:t>
            </a:r>
            <a:r>
              <a:rPr lang="en-US" baseline="0" dirty="0" err="1" smtClean="0">
                <a:sym typeface="Wingdings" panose="05000000000000000000" pitchFamily="2" charset="2"/>
              </a:rPr>
              <a:t>separatem</a:t>
            </a:r>
            <a:r>
              <a:rPr lang="en-US" baseline="0" dirty="0" smtClean="0">
                <a:sym typeface="Wingdings" panose="05000000000000000000" pitchFamily="2" charset="2"/>
              </a:rPr>
              <a:t> </a:t>
            </a:r>
            <a:r>
              <a:rPr lang="en-US" baseline="0" dirty="0" err="1" smtClean="0">
                <a:sym typeface="Wingdings" panose="05000000000000000000" pitchFamily="2" charset="2"/>
              </a:rPr>
              <a:t>Zähler</a:t>
            </a:r>
            <a:r>
              <a:rPr lang="en-US" baseline="0" dirty="0" smtClean="0">
                <a:sym typeface="Wingdings" panose="05000000000000000000" pitchFamily="2" charset="2"/>
              </a:rPr>
              <a:t> </a:t>
            </a:r>
            <a:r>
              <a:rPr lang="en-US" baseline="0" dirty="0" err="1" smtClean="0">
                <a:sym typeface="Wingdings" panose="05000000000000000000" pitchFamily="2" charset="2"/>
              </a:rPr>
              <a:t>für</a:t>
            </a:r>
            <a:r>
              <a:rPr lang="en-US" baseline="0" dirty="0" smtClean="0">
                <a:sym typeface="Wingdings" panose="05000000000000000000" pitchFamily="2" charset="2"/>
              </a:rPr>
              <a:t> </a:t>
            </a:r>
            <a:r>
              <a:rPr lang="en-US" baseline="0" dirty="0" err="1" smtClean="0">
                <a:sym typeface="Wingdings" panose="05000000000000000000" pitchFamily="2" charset="2"/>
              </a:rPr>
              <a:t>Dach</a:t>
            </a:r>
            <a:r>
              <a:rPr lang="en-US" baseline="0" dirty="0" smtClean="0">
                <a:sym typeface="Wingdings" panose="05000000000000000000" pitchFamily="2" charset="2"/>
              </a:rPr>
              <a:t>-PV-Anlage. </a:t>
            </a:r>
            <a:r>
              <a:rPr lang="en-US" baseline="0" dirty="0" err="1" smtClean="0">
                <a:sym typeface="Wingdings" panose="05000000000000000000" pitchFamily="2" charset="2"/>
              </a:rPr>
              <a:t>Grauzone</a:t>
            </a:r>
            <a:r>
              <a:rPr lang="en-US" baseline="0" dirty="0" smtClean="0">
                <a:sym typeface="Wingdings" panose="05000000000000000000" pitchFamily="2" charset="2"/>
              </a:rPr>
              <a:t>: Guerilla-PV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1303DF-3EC5-4846-8CDB-FDE64BE2257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8534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1303DF-3EC5-4846-8CDB-FDE64BE22573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124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1303DF-3EC5-4846-8CDB-FDE64BE22573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574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1303DF-3EC5-4846-8CDB-FDE64BE22573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7804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1303DF-3EC5-4846-8CDB-FDE64BE22573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572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tags" Target="../tags/tag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vmlDrawing" Target="../drawings/vmlDrawing2.v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10" Type="http://schemas.openxmlformats.org/officeDocument/2006/relationships/image" Target="../media/image3.png"/><Relationship Id="rId4" Type="http://schemas.openxmlformats.org/officeDocument/2006/relationships/tags" Target="../tags/tag7.xml"/><Relationship Id="rId9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7" Type="http://schemas.openxmlformats.org/officeDocument/2006/relationships/image" Target="../media/image1.emf"/><Relationship Id="rId2" Type="http://schemas.openxmlformats.org/officeDocument/2006/relationships/tags" Target="../tags/tag10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image" Target="../media/image1.emf"/><Relationship Id="rId2" Type="http://schemas.openxmlformats.org/officeDocument/2006/relationships/tags" Target="../tags/tag15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5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7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19.xml"/><Relationship Id="rId7" Type="http://schemas.openxmlformats.org/officeDocument/2006/relationships/image" Target="../media/image1.emf"/><Relationship Id="rId2" Type="http://schemas.openxmlformats.org/officeDocument/2006/relationships/tags" Target="../tags/tag18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0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2" Type="http://schemas.openxmlformats.org/officeDocument/2006/relationships/tags" Target="../tags/tag21.xml"/><Relationship Id="rId1" Type="http://schemas.openxmlformats.org/officeDocument/2006/relationships/vmlDrawing" Target="../drawings/vmlDrawing7.vml"/><Relationship Id="rId6" Type="http://schemas.openxmlformats.org/officeDocument/2006/relationships/tags" Target="../tags/tag25.xml"/><Relationship Id="rId11" Type="http://schemas.openxmlformats.org/officeDocument/2006/relationships/image" Target="../media/image4.png"/><Relationship Id="rId5" Type="http://schemas.openxmlformats.org/officeDocument/2006/relationships/tags" Target="../tags/tag24.xml"/><Relationship Id="rId10" Type="http://schemas.openxmlformats.org/officeDocument/2006/relationships/image" Target="../media/image1.emf"/><Relationship Id="rId4" Type="http://schemas.openxmlformats.org/officeDocument/2006/relationships/tags" Target="../tags/tag23.xml"/><Relationship Id="rId9" Type="http://schemas.openxmlformats.org/officeDocument/2006/relationships/oleObject" Target="../embeddings/oleObject7.bin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28.xml"/><Relationship Id="rId7" Type="http://schemas.openxmlformats.org/officeDocument/2006/relationships/image" Target="../media/image1.emf"/><Relationship Id="rId2" Type="http://schemas.openxmlformats.org/officeDocument/2006/relationships/tags" Target="../tags/tag2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8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9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31.xml"/><Relationship Id="rId7" Type="http://schemas.openxmlformats.org/officeDocument/2006/relationships/image" Target="../media/image1.emf"/><Relationship Id="rId2" Type="http://schemas.openxmlformats.org/officeDocument/2006/relationships/tags" Target="../tags/tag30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9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Objekt 40" hidden="1"/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34051166"/>
              </p:ext>
            </p:extLst>
          </p:nvPr>
        </p:nvGraphicFramePr>
        <p:xfrm>
          <a:off x="0" y="4"/>
          <a:ext cx="158750" cy="132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" name="think-cell Slide" r:id="rId8" imgW="465" imgH="464" progId="TCLayout.ActiveDocument.1">
                  <p:embed/>
                </p:oleObj>
              </mc:Choice>
              <mc:Fallback>
                <p:oleObj name="think-cell Slide" r:id="rId8" imgW="465" imgH="46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0" y="4"/>
                        <a:ext cx="158750" cy="1322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platzhalter 17"/>
          <p:cNvSpPr>
            <a:spLocks noGrp="1"/>
          </p:cNvSpPr>
          <p:nvPr>
            <p:ph type="body" sz="quarter" idx="12" hasCustomPrompt="1"/>
            <p:custDataLst>
              <p:tags r:id="rId3"/>
            </p:custDataLst>
          </p:nvPr>
        </p:nvSpPr>
        <p:spPr>
          <a:xfrm>
            <a:off x="6228184" y="5197760"/>
            <a:ext cx="2556284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spcBef>
                <a:spcPts val="0"/>
              </a:spcBef>
              <a:buNone/>
              <a:defRPr sz="1600" b="0" baseline="0">
                <a:solidFill>
                  <a:schemeClr val="tx1"/>
                </a:solidFill>
              </a:defRPr>
            </a:lvl1pPr>
            <a:lvl2pPr marL="396118" indent="0">
              <a:buNone/>
              <a:defRPr sz="1700">
                <a:solidFill>
                  <a:schemeClr val="accent2"/>
                </a:solidFill>
              </a:defRPr>
            </a:lvl2pPr>
            <a:lvl3pPr marL="792234" indent="0">
              <a:buNone/>
              <a:defRPr sz="1700">
                <a:solidFill>
                  <a:schemeClr val="accent2"/>
                </a:solidFill>
              </a:defRPr>
            </a:lvl3pPr>
            <a:lvl4pPr marL="1188351" indent="0">
              <a:buNone/>
              <a:defRPr sz="1700">
                <a:solidFill>
                  <a:schemeClr val="accent2"/>
                </a:solidFill>
              </a:defRPr>
            </a:lvl4pPr>
            <a:lvl5pPr marL="1584468" indent="0">
              <a:buNone/>
              <a:defRPr sz="17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noProof="0" dirty="0" smtClean="0"/>
              <a:t>Place, Date</a:t>
            </a:r>
            <a:endParaRPr lang="en-US" noProof="0" dirty="0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431539" y="3939547"/>
            <a:ext cx="8280920" cy="369332"/>
          </a:xfrm>
        </p:spPr>
        <p:txBody>
          <a:bodyPr wrap="square" lIns="0" tIns="0" rIns="0" bIns="0" anchor="t" anchorCtr="0">
            <a:spAutoFit/>
          </a:bodyPr>
          <a:lstStyle>
            <a:lvl1pPr algn="ctr">
              <a:defRPr sz="2400" b="0">
                <a:solidFill>
                  <a:schemeClr val="tx1"/>
                </a:solidFill>
              </a:defRPr>
            </a:lvl1pPr>
          </a:lstStyle>
          <a:p>
            <a:r>
              <a:rPr lang="en-US" noProof="0" dirty="0" smtClean="0"/>
              <a:t>Title master format by click treat</a:t>
            </a:r>
            <a:endParaRPr lang="en-US" noProof="0" dirty="0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1" hasCustomPrompt="1"/>
            <p:custDataLst>
              <p:tags r:id="rId5"/>
            </p:custDataLst>
          </p:nvPr>
        </p:nvSpPr>
        <p:spPr>
          <a:xfrm>
            <a:off x="431539" y="5197759"/>
            <a:ext cx="558061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 b="0" baseline="0"/>
            </a:lvl1pPr>
          </a:lstStyle>
          <a:p>
            <a:pPr lvl="0"/>
            <a:r>
              <a:rPr lang="en-US" noProof="0" dirty="0" smtClean="0"/>
              <a:t>Author(s)</a:t>
            </a:r>
            <a:endParaRPr lang="en-US" noProof="0" dirty="0"/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350" y="817000"/>
            <a:ext cx="2945297" cy="1716465"/>
          </a:xfrm>
          <a:prstGeom prst="rect">
            <a:avLst/>
          </a:prstGeom>
        </p:spPr>
      </p:pic>
      <p:cxnSp>
        <p:nvCxnSpPr>
          <p:cNvPr id="14" name="Gerade Verbindung 14"/>
          <p:cNvCxnSpPr/>
          <p:nvPr userDrawn="1">
            <p:custDataLst>
              <p:tags r:id="rId6"/>
            </p:custDataLst>
          </p:nvPr>
        </p:nvCxnSpPr>
        <p:spPr>
          <a:xfrm flipH="1">
            <a:off x="0" y="3541576"/>
            <a:ext cx="914399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794316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180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46798655"/>
              </p:ext>
            </p:extLst>
          </p:nvPr>
        </p:nvGraphicFramePr>
        <p:xfrm>
          <a:off x="0" y="2"/>
          <a:ext cx="158750" cy="176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904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0" y="2"/>
                        <a:ext cx="158750" cy="1763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platzhalter 3"/>
          <p:cNvSpPr>
            <a:spLocks noGrp="1"/>
          </p:cNvSpPr>
          <p:nvPr>
            <p:ph type="body" sz="quarter" idx="16" hasCustomPrompt="1"/>
            <p:custDataLst>
              <p:tags r:id="rId3"/>
            </p:custDataLst>
          </p:nvPr>
        </p:nvSpPr>
        <p:spPr>
          <a:xfrm>
            <a:off x="431800" y="1008000"/>
            <a:ext cx="8280400" cy="41404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560"/>
              </a:spcBef>
              <a:buNone/>
              <a:defRPr sz="1600" b="1"/>
            </a:lvl1pPr>
            <a:lvl2pPr marL="229693" indent="-229693">
              <a:spcBef>
                <a:spcPts val="1560"/>
              </a:spcBef>
              <a:buClr>
                <a:schemeClr val="accent2"/>
              </a:buClr>
              <a:buFont typeface="Wingdings" pitchFamily="2" charset="2"/>
              <a:buChar char="n"/>
              <a:defRPr sz="1400" b="1"/>
            </a:lvl2pPr>
            <a:lvl3pPr marL="470389" indent="-240697">
              <a:spcBef>
                <a:spcPts val="520"/>
              </a:spcBef>
              <a:buClr>
                <a:schemeClr val="accent2"/>
              </a:buClr>
              <a:buFont typeface="Arial" pitchFamily="34" charset="0"/>
              <a:buChar char="–"/>
              <a:defRPr sz="1400" baseline="0"/>
            </a:lvl3pPr>
            <a:lvl4pPr marL="697331" indent="-232444">
              <a:spcBef>
                <a:spcPts val="260"/>
              </a:spcBef>
              <a:buClr>
                <a:schemeClr val="accent2"/>
              </a:buClr>
              <a:buFont typeface="Arial" pitchFamily="34" charset="0"/>
              <a:buChar char="–"/>
              <a:defRPr sz="1400"/>
            </a:lvl4pPr>
            <a:lvl5pPr marL="697331" indent="0">
              <a:spcBef>
                <a:spcPts val="260"/>
              </a:spcBef>
              <a:buNone/>
              <a:defRPr sz="1600" baseline="0"/>
            </a:lvl5pPr>
          </a:lstStyle>
          <a:p>
            <a:pPr lvl="1"/>
            <a:r>
              <a:rPr lang="en-US" noProof="0" dirty="0" smtClean="0"/>
              <a:t>Chapter  Level 1</a:t>
            </a:r>
          </a:p>
          <a:p>
            <a:pPr lvl="2"/>
            <a:r>
              <a:rPr lang="en-US" dirty="0" smtClean="0"/>
              <a:t>Sub-Chapter Level 2</a:t>
            </a:r>
          </a:p>
          <a:p>
            <a:pPr lvl="3"/>
            <a:r>
              <a:rPr lang="en-US" noProof="0" dirty="0" smtClean="0"/>
              <a:t>Sub-Chapter Level 3</a:t>
            </a:r>
          </a:p>
        </p:txBody>
      </p:sp>
      <p:cxnSp>
        <p:nvCxnSpPr>
          <p:cNvPr id="11" name="Gerade Verbindung 14"/>
          <p:cNvCxnSpPr/>
          <p:nvPr userDrawn="1">
            <p:custDataLst>
              <p:tags r:id="rId4"/>
            </p:custDataLst>
          </p:nvPr>
        </p:nvCxnSpPr>
        <p:spPr>
          <a:xfrm flipH="1">
            <a:off x="0" y="5362191"/>
            <a:ext cx="914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31800" y="265212"/>
            <a:ext cx="8280400" cy="307777"/>
          </a:xfrm>
        </p:spPr>
        <p:txBody>
          <a:bodyPr wrap="none">
            <a:noAutofit/>
          </a:bodyPr>
          <a:lstStyle>
            <a:lvl1pPr>
              <a:defRPr sz="2000" b="0">
                <a:solidFill>
                  <a:schemeClr val="accent1"/>
                </a:solidFill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7"/>
          </p:nvPr>
        </p:nvSpPr>
        <p:spPr>
          <a:xfrm>
            <a:off x="216000" y="5413784"/>
            <a:ext cx="7740600" cy="240027"/>
          </a:xfrm>
        </p:spPr>
        <p:txBody>
          <a:bodyPr lIns="0" rIns="36000"/>
          <a:lstStyle/>
          <a:p>
            <a:r>
              <a:rPr lang="en-US" dirty="0" smtClean="0"/>
              <a:t>Open Source Energy Mesh | 11/2016 | Martin Jäger</a:t>
            </a:r>
            <a:endParaRPr lang="de-DE" dirty="0"/>
          </a:p>
        </p:txBody>
      </p:sp>
      <p:sp>
        <p:nvSpPr>
          <p:cNvPr id="13" name="Rectangle 6"/>
          <p:cNvSpPr txBox="1">
            <a:spLocks noChangeArrowheads="1"/>
          </p:cNvSpPr>
          <p:nvPr userDrawn="1"/>
        </p:nvSpPr>
        <p:spPr bwMode="auto">
          <a:xfrm>
            <a:off x="8388000" y="5413784"/>
            <a:ext cx="540060" cy="240047"/>
          </a:xfrm>
          <a:prstGeom prst="rect">
            <a:avLst/>
          </a:prstGeom>
        </p:spPr>
        <p:txBody>
          <a:bodyPr vert="horz" lIns="36000" tIns="39621" rIns="0" bIns="39621" rtlCol="0" anchor="ctr"/>
          <a:lstStyle>
            <a:defPPr>
              <a:defRPr lang="de-DE"/>
            </a:defPPr>
            <a:lvl1pPr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algn="r"/>
            <a:fld id="{80F4B4AF-95BE-41A4-83AC-501D93DA230A}" type="slidenum">
              <a:rPr lang="de-DE" smtClean="0"/>
              <a:pPr lvl="0" algn="r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499283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180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70583632"/>
              </p:ext>
            </p:extLst>
          </p:nvPr>
        </p:nvGraphicFramePr>
        <p:xfrm>
          <a:off x="0" y="2"/>
          <a:ext cx="158750" cy="176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730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0" y="2"/>
                        <a:ext cx="158750" cy="1763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Gerade Verbindung 14"/>
          <p:cNvCxnSpPr/>
          <p:nvPr userDrawn="1">
            <p:custDataLst>
              <p:tags r:id="rId3"/>
            </p:custDataLst>
          </p:nvPr>
        </p:nvCxnSpPr>
        <p:spPr>
          <a:xfrm flipH="1">
            <a:off x="0" y="5362191"/>
            <a:ext cx="914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el 5"/>
          <p:cNvSpPr>
            <a:spLocks noGrp="1"/>
          </p:cNvSpPr>
          <p:nvPr>
            <p:ph type="title"/>
          </p:nvPr>
        </p:nvSpPr>
        <p:spPr>
          <a:xfrm>
            <a:off x="431800" y="265212"/>
            <a:ext cx="8280400" cy="307777"/>
          </a:xfrm>
        </p:spPr>
        <p:txBody>
          <a:bodyPr wrap="none">
            <a:noAutofit/>
          </a:bodyPr>
          <a:lstStyle>
            <a:lvl1pPr>
              <a:defRPr sz="2000" b="0">
                <a:solidFill>
                  <a:schemeClr val="accent1"/>
                </a:solidFill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15" name="Fußzeilenplatzhalter 9"/>
          <p:cNvSpPr>
            <a:spLocks noGrp="1"/>
          </p:cNvSpPr>
          <p:nvPr>
            <p:ph type="ftr" sz="quarter" idx="17"/>
          </p:nvPr>
        </p:nvSpPr>
        <p:spPr>
          <a:xfrm>
            <a:off x="216000" y="5413784"/>
            <a:ext cx="7740600" cy="240027"/>
          </a:xfrm>
        </p:spPr>
        <p:txBody>
          <a:bodyPr lIns="0" rIns="36000"/>
          <a:lstStyle/>
          <a:p>
            <a:r>
              <a:rPr lang="en-US" dirty="0" smtClean="0"/>
              <a:t>Open Source Energy Mesh | 11/2016 | Martin Jäger</a:t>
            </a:r>
            <a:endParaRPr lang="de-DE" dirty="0"/>
          </a:p>
        </p:txBody>
      </p:sp>
      <p:sp>
        <p:nvSpPr>
          <p:cNvPr id="16" name="Rectangle 6"/>
          <p:cNvSpPr txBox="1">
            <a:spLocks noChangeArrowheads="1"/>
          </p:cNvSpPr>
          <p:nvPr userDrawn="1"/>
        </p:nvSpPr>
        <p:spPr bwMode="auto">
          <a:xfrm>
            <a:off x="8388000" y="5413784"/>
            <a:ext cx="540060" cy="240047"/>
          </a:xfrm>
          <a:prstGeom prst="rect">
            <a:avLst/>
          </a:prstGeom>
        </p:spPr>
        <p:txBody>
          <a:bodyPr vert="horz" lIns="36000" tIns="39621" rIns="0" bIns="39621" rtlCol="0" anchor="ctr"/>
          <a:lstStyle>
            <a:defPPr>
              <a:defRPr lang="de-DE"/>
            </a:defPPr>
            <a:lvl1pPr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algn="r"/>
            <a:fld id="{80F4B4AF-95BE-41A4-83AC-501D93DA230A}" type="slidenum">
              <a:rPr lang="de-DE" smtClean="0"/>
              <a:pPr lvl="0" algn="r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151637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20166886"/>
              </p:ext>
            </p:extLst>
          </p:nvPr>
        </p:nvGraphicFramePr>
        <p:xfrm>
          <a:off x="0" y="2"/>
          <a:ext cx="158750" cy="176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712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0" y="2"/>
                        <a:ext cx="158750" cy="1763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platzhalter 4"/>
          <p:cNvSpPr>
            <a:spLocks noGrp="1"/>
          </p:cNvSpPr>
          <p:nvPr>
            <p:ph type="body" sz="quarter" idx="18" hasCustomPrompt="1"/>
            <p:custDataLst>
              <p:tags r:id="rId3"/>
            </p:custDataLst>
          </p:nvPr>
        </p:nvSpPr>
        <p:spPr>
          <a:xfrm>
            <a:off x="431800" y="1007999"/>
            <a:ext cx="8280000" cy="4140000"/>
          </a:xfrm>
        </p:spPr>
        <p:txBody>
          <a:bodyPr/>
          <a:lstStyle>
            <a:lvl1pPr>
              <a:spcBef>
                <a:spcPts val="1040"/>
              </a:spcBef>
              <a:defRPr sz="1400" baseline="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 smtClean="0"/>
              <a:t>Level 0</a:t>
            </a:r>
          </a:p>
          <a:p>
            <a:pPr lvl="1"/>
            <a:r>
              <a:rPr lang="en-US" noProof="0" dirty="0" smtClean="0"/>
              <a:t>Level 1</a:t>
            </a:r>
          </a:p>
          <a:p>
            <a:pPr lvl="2"/>
            <a:r>
              <a:rPr lang="en-US" noProof="0" dirty="0" smtClean="0"/>
              <a:t>Level 2</a:t>
            </a:r>
          </a:p>
          <a:p>
            <a:pPr lvl="3"/>
            <a:r>
              <a:rPr lang="en-US" noProof="0" dirty="0" smtClean="0"/>
              <a:t>Level 3</a:t>
            </a:r>
          </a:p>
          <a:p>
            <a:pPr lvl="4"/>
            <a:r>
              <a:rPr lang="en-US" noProof="0" dirty="0" smtClean="0"/>
              <a:t>Level 4</a:t>
            </a:r>
            <a:endParaRPr lang="en-US" noProof="0" dirty="0"/>
          </a:p>
        </p:txBody>
      </p:sp>
      <p:cxnSp>
        <p:nvCxnSpPr>
          <p:cNvPr id="12" name="Gerade Verbindung 14"/>
          <p:cNvCxnSpPr/>
          <p:nvPr userDrawn="1">
            <p:custDataLst>
              <p:tags r:id="rId4"/>
            </p:custDataLst>
          </p:nvPr>
        </p:nvCxnSpPr>
        <p:spPr>
          <a:xfrm flipH="1">
            <a:off x="0" y="5362191"/>
            <a:ext cx="914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el 5"/>
          <p:cNvSpPr>
            <a:spLocks noGrp="1"/>
          </p:cNvSpPr>
          <p:nvPr>
            <p:ph type="title"/>
          </p:nvPr>
        </p:nvSpPr>
        <p:spPr>
          <a:xfrm>
            <a:off x="431800" y="265212"/>
            <a:ext cx="8280400" cy="307777"/>
          </a:xfrm>
        </p:spPr>
        <p:txBody>
          <a:bodyPr wrap="none">
            <a:noAutofit/>
          </a:bodyPr>
          <a:lstStyle>
            <a:lvl1pPr>
              <a:defRPr sz="2000" b="0">
                <a:solidFill>
                  <a:schemeClr val="accent1"/>
                </a:solidFill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17" name="Fußzeilenplatzhalter 9"/>
          <p:cNvSpPr>
            <a:spLocks noGrp="1"/>
          </p:cNvSpPr>
          <p:nvPr>
            <p:ph type="ftr" sz="quarter" idx="17"/>
          </p:nvPr>
        </p:nvSpPr>
        <p:spPr>
          <a:xfrm>
            <a:off x="216000" y="5413784"/>
            <a:ext cx="7740600" cy="240027"/>
          </a:xfrm>
        </p:spPr>
        <p:txBody>
          <a:bodyPr lIns="0" rIns="36000"/>
          <a:lstStyle/>
          <a:p>
            <a:r>
              <a:rPr lang="en-US" dirty="0" smtClean="0"/>
              <a:t>Open Source Energy Mesh | 11/2016 | Martin Jäger</a:t>
            </a:r>
            <a:endParaRPr lang="de-DE" dirty="0"/>
          </a:p>
        </p:txBody>
      </p:sp>
      <p:sp>
        <p:nvSpPr>
          <p:cNvPr id="18" name="Rectangle 6"/>
          <p:cNvSpPr txBox="1">
            <a:spLocks noChangeArrowheads="1"/>
          </p:cNvSpPr>
          <p:nvPr userDrawn="1"/>
        </p:nvSpPr>
        <p:spPr bwMode="auto">
          <a:xfrm>
            <a:off x="8388000" y="5413784"/>
            <a:ext cx="540060" cy="240047"/>
          </a:xfrm>
          <a:prstGeom prst="rect">
            <a:avLst/>
          </a:prstGeom>
        </p:spPr>
        <p:txBody>
          <a:bodyPr vert="horz" lIns="36000" tIns="39621" rIns="0" bIns="39621" rtlCol="0" anchor="ctr"/>
          <a:lstStyle>
            <a:defPPr>
              <a:defRPr lang="de-DE"/>
            </a:defPPr>
            <a:lvl1pPr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algn="r"/>
            <a:fld id="{80F4B4AF-95BE-41A4-83AC-501D93DA230A}" type="slidenum">
              <a:rPr lang="de-DE" smtClean="0"/>
              <a:pPr lvl="0" algn="r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118691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and Text 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9" hasCustomPrompt="1"/>
          </p:nvPr>
        </p:nvSpPr>
        <p:spPr>
          <a:xfrm>
            <a:off x="431800" y="1130400"/>
            <a:ext cx="4860000" cy="4068000"/>
          </a:xfrm>
          <a:ln>
            <a:solidFill>
              <a:schemeClr val="bg2"/>
            </a:solidFill>
          </a:ln>
        </p:spPr>
        <p:txBody>
          <a:bodyPr lIns="62380" tIns="62380" rIns="62380" bIns="62380">
            <a:normAutofit/>
          </a:bodyPr>
          <a:lstStyle>
            <a:lvl1pPr>
              <a:spcBef>
                <a:spcPts val="1040"/>
              </a:spcBef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 smtClean="0"/>
              <a:t>Level 0</a:t>
            </a:r>
          </a:p>
          <a:p>
            <a:pPr lvl="1"/>
            <a:r>
              <a:rPr lang="en-US" noProof="0" dirty="0" smtClean="0"/>
              <a:t>Level 1</a:t>
            </a:r>
          </a:p>
          <a:p>
            <a:pPr lvl="2"/>
            <a:r>
              <a:rPr lang="en-US" noProof="0" dirty="0" smtClean="0"/>
              <a:t>Level 2</a:t>
            </a:r>
          </a:p>
          <a:p>
            <a:pPr lvl="3"/>
            <a:r>
              <a:rPr lang="en-US" noProof="0" dirty="0" smtClean="0"/>
              <a:t>Level 3</a:t>
            </a:r>
          </a:p>
          <a:p>
            <a:pPr lvl="4"/>
            <a:r>
              <a:rPr lang="en-US" noProof="0" dirty="0" smtClean="0"/>
              <a:t>Level 4</a:t>
            </a:r>
            <a:endParaRPr lang="en-US" noProof="0" dirty="0"/>
          </a:p>
        </p:txBody>
      </p:sp>
      <p:graphicFrame>
        <p:nvGraphicFramePr>
          <p:cNvPr id="3" name="Object 2" hidden="1"/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03775362"/>
              </p:ext>
            </p:extLst>
          </p:nvPr>
        </p:nvGraphicFramePr>
        <p:xfrm>
          <a:off x="0" y="2"/>
          <a:ext cx="158750" cy="176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7599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0" y="2"/>
                        <a:ext cx="158750" cy="1763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platzhalter 4"/>
          <p:cNvSpPr>
            <a:spLocks noGrp="1"/>
          </p:cNvSpPr>
          <p:nvPr>
            <p:ph type="body" sz="quarter" idx="18" hasCustomPrompt="1"/>
            <p:custDataLst>
              <p:tags r:id="rId3"/>
            </p:custDataLst>
          </p:nvPr>
        </p:nvSpPr>
        <p:spPr>
          <a:xfrm>
            <a:off x="5436100" y="1130400"/>
            <a:ext cx="3276000" cy="4068000"/>
          </a:xfrm>
          <a:ln>
            <a:solidFill>
              <a:schemeClr val="bg2"/>
            </a:solidFill>
          </a:ln>
        </p:spPr>
        <p:txBody>
          <a:bodyPr lIns="62380" tIns="62380" rIns="62380" bIns="62380">
            <a:normAutofit/>
          </a:bodyPr>
          <a:lstStyle>
            <a:lvl1pPr>
              <a:spcBef>
                <a:spcPts val="1040"/>
              </a:spcBef>
              <a:defRPr sz="1400" baseline="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 smtClean="0"/>
              <a:t>Level 0</a:t>
            </a:r>
          </a:p>
          <a:p>
            <a:pPr lvl="1"/>
            <a:r>
              <a:rPr lang="en-US" noProof="0" dirty="0" smtClean="0"/>
              <a:t>Level 1</a:t>
            </a:r>
          </a:p>
          <a:p>
            <a:pPr lvl="2"/>
            <a:r>
              <a:rPr lang="en-US" noProof="0" dirty="0" smtClean="0"/>
              <a:t>Level 2</a:t>
            </a:r>
          </a:p>
          <a:p>
            <a:pPr lvl="3"/>
            <a:r>
              <a:rPr lang="en-US" noProof="0" dirty="0" smtClean="0"/>
              <a:t>Level 3</a:t>
            </a:r>
          </a:p>
          <a:p>
            <a:pPr lvl="4"/>
            <a:r>
              <a:rPr lang="en-US" noProof="0" dirty="0" smtClean="0"/>
              <a:t>Level 4</a:t>
            </a:r>
            <a:endParaRPr lang="en-US" noProof="0" dirty="0"/>
          </a:p>
        </p:txBody>
      </p:sp>
      <p:cxnSp>
        <p:nvCxnSpPr>
          <p:cNvPr id="10" name="Gerade Verbindung 14"/>
          <p:cNvCxnSpPr/>
          <p:nvPr userDrawn="1">
            <p:custDataLst>
              <p:tags r:id="rId4"/>
            </p:custDataLst>
          </p:nvPr>
        </p:nvCxnSpPr>
        <p:spPr>
          <a:xfrm flipH="1">
            <a:off x="0" y="769938"/>
            <a:ext cx="9143999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el 5"/>
          <p:cNvSpPr>
            <a:spLocks noGrp="1"/>
          </p:cNvSpPr>
          <p:nvPr>
            <p:ph type="title"/>
          </p:nvPr>
        </p:nvSpPr>
        <p:spPr>
          <a:xfrm>
            <a:off x="431800" y="265212"/>
            <a:ext cx="6480460" cy="288032"/>
          </a:xfrm>
        </p:spPr>
        <p:txBody>
          <a:bodyPr wrap="none"/>
          <a:lstStyle>
            <a:lvl1pPr>
              <a:defRPr b="0"/>
            </a:lvl1pPr>
          </a:lstStyle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18" name="Fußzeilenplatzhalter 9"/>
          <p:cNvSpPr>
            <a:spLocks noGrp="1"/>
          </p:cNvSpPr>
          <p:nvPr>
            <p:ph type="ftr" sz="quarter" idx="17"/>
          </p:nvPr>
        </p:nvSpPr>
        <p:spPr>
          <a:xfrm>
            <a:off x="431800" y="5413784"/>
            <a:ext cx="7740600" cy="240027"/>
          </a:xfrm>
        </p:spPr>
        <p:txBody>
          <a:bodyPr lIns="0" rIns="36000"/>
          <a:lstStyle/>
          <a:p>
            <a:r>
              <a:rPr lang="en-US" smtClean="0"/>
              <a:t>Open Source Energy Mesh | 11/2016 | Martin Jäger</a:t>
            </a:r>
            <a:endParaRPr lang="de-DE" dirty="0"/>
          </a:p>
        </p:txBody>
      </p:sp>
      <p:sp>
        <p:nvSpPr>
          <p:cNvPr id="19" name="Rectangle 6"/>
          <p:cNvSpPr txBox="1">
            <a:spLocks noChangeArrowheads="1"/>
          </p:cNvSpPr>
          <p:nvPr userDrawn="1"/>
        </p:nvSpPr>
        <p:spPr bwMode="auto">
          <a:xfrm>
            <a:off x="8172400" y="5413784"/>
            <a:ext cx="540060" cy="240047"/>
          </a:xfrm>
          <a:prstGeom prst="rect">
            <a:avLst/>
          </a:prstGeom>
        </p:spPr>
        <p:txBody>
          <a:bodyPr vert="horz" lIns="36000" tIns="39621" rIns="0" bIns="39621" rtlCol="0" anchor="ctr"/>
          <a:lstStyle>
            <a:defPPr>
              <a:defRPr lang="de-DE"/>
            </a:defPPr>
            <a:lvl1pPr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algn="r"/>
            <a:fld id="{80F4B4AF-95BE-41A4-83AC-501D93DA230A}" type="slidenum">
              <a:rPr lang="de-DE" smtClean="0"/>
              <a:pPr lvl="0" algn="r"/>
              <a:t>‹Nr.›</a:t>
            </a:fld>
            <a:endParaRPr lang="de-DE" dirty="0"/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0272" y="247308"/>
            <a:ext cx="1727932" cy="327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9246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and Text 2/3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06408457"/>
              </p:ext>
            </p:extLst>
          </p:nvPr>
        </p:nvGraphicFramePr>
        <p:xfrm>
          <a:off x="0" y="2"/>
          <a:ext cx="158750" cy="176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628" name="think-cell Slide" r:id="rId9" imgW="270" imgH="270" progId="TCLayout.ActiveDocument.1">
                  <p:embed/>
                </p:oleObj>
              </mc:Choice>
              <mc:Fallback>
                <p:oleObj name="think-cell Slide" r:id="rId9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0" y="2"/>
                        <a:ext cx="158750" cy="1763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Inhaltsplatzhalter 8"/>
          <p:cNvSpPr>
            <a:spLocks noGrp="1"/>
          </p:cNvSpPr>
          <p:nvPr>
            <p:ph sz="quarter" idx="20" hasCustomPrompt="1"/>
            <p:custDataLst>
              <p:tags r:id="rId3"/>
            </p:custDataLst>
          </p:nvPr>
        </p:nvSpPr>
        <p:spPr>
          <a:xfrm>
            <a:off x="431798" y="1454400"/>
            <a:ext cx="4860000" cy="3744000"/>
          </a:xfrm>
          <a:ln>
            <a:solidFill>
              <a:schemeClr val="bg2"/>
            </a:solidFill>
          </a:ln>
        </p:spPr>
        <p:txBody>
          <a:bodyPr lIns="62380" tIns="62380" rIns="62380" bIns="62380">
            <a:noAutofit/>
          </a:bodyPr>
          <a:lstStyle>
            <a:lvl1pPr>
              <a:spcBef>
                <a:spcPts val="1040"/>
              </a:spcBef>
              <a:defRPr sz="1400"/>
            </a:lvl1pPr>
            <a:lvl2pPr>
              <a:buClr>
                <a:schemeClr val="accent1"/>
              </a:buCl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 smtClean="0"/>
              <a:t>Level 0</a:t>
            </a:r>
          </a:p>
          <a:p>
            <a:pPr lvl="1"/>
            <a:r>
              <a:rPr lang="en-US" noProof="0" dirty="0" smtClean="0"/>
              <a:t>Level 1</a:t>
            </a:r>
          </a:p>
          <a:p>
            <a:pPr lvl="2"/>
            <a:r>
              <a:rPr lang="en-US" noProof="0" dirty="0" smtClean="0"/>
              <a:t>Level 2</a:t>
            </a:r>
          </a:p>
          <a:p>
            <a:pPr lvl="3"/>
            <a:r>
              <a:rPr lang="en-US" noProof="0" dirty="0" smtClean="0"/>
              <a:t>Level 3</a:t>
            </a:r>
          </a:p>
          <a:p>
            <a:pPr lvl="4"/>
            <a:r>
              <a:rPr lang="en-US" noProof="0" dirty="0" smtClean="0"/>
              <a:t>Level 4</a:t>
            </a:r>
            <a:endParaRPr lang="en-US" noProof="0" dirty="0"/>
          </a:p>
        </p:txBody>
      </p:sp>
      <p:sp>
        <p:nvSpPr>
          <p:cNvPr id="15" name="Textplatzhalter 6"/>
          <p:cNvSpPr>
            <a:spLocks noGrp="1"/>
          </p:cNvSpPr>
          <p:nvPr>
            <p:ph type="body" sz="quarter" idx="21" hasCustomPrompt="1"/>
            <p:custDataLst>
              <p:tags r:id="rId4"/>
            </p:custDataLst>
          </p:nvPr>
        </p:nvSpPr>
        <p:spPr>
          <a:xfrm>
            <a:off x="431797" y="1130400"/>
            <a:ext cx="4860000" cy="324000"/>
          </a:xfrm>
          <a:solidFill>
            <a:schemeClr val="bg1">
              <a:lumMod val="85000"/>
            </a:schemeClr>
          </a:solidFill>
          <a:ln>
            <a:solidFill>
              <a:schemeClr val="bg2"/>
            </a:solidFill>
          </a:ln>
        </p:spPr>
        <p:txBody>
          <a:bodyPr anchor="ctr" anchorCtr="0">
            <a:noAutofit/>
          </a:bodyPr>
          <a:lstStyle>
            <a:lvl1pPr algn="ctr"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 smtClean="0"/>
              <a:t>Title</a:t>
            </a:r>
            <a:endParaRPr lang="en-US" noProof="0" dirty="0"/>
          </a:p>
        </p:txBody>
      </p:sp>
      <p:sp>
        <p:nvSpPr>
          <p:cNvPr id="18" name="Textplatzhalter 6"/>
          <p:cNvSpPr>
            <a:spLocks noGrp="1"/>
          </p:cNvSpPr>
          <p:nvPr>
            <p:ph type="body" sz="quarter" idx="22" hasCustomPrompt="1"/>
            <p:custDataLst>
              <p:tags r:id="rId5"/>
            </p:custDataLst>
          </p:nvPr>
        </p:nvSpPr>
        <p:spPr>
          <a:xfrm>
            <a:off x="5436096" y="1130400"/>
            <a:ext cx="3276000" cy="324000"/>
          </a:xfrm>
          <a:solidFill>
            <a:schemeClr val="bg1">
              <a:lumMod val="85000"/>
            </a:schemeClr>
          </a:solidFill>
          <a:ln>
            <a:solidFill>
              <a:schemeClr val="bg2"/>
            </a:solidFill>
          </a:ln>
        </p:spPr>
        <p:txBody>
          <a:bodyPr anchor="ctr" anchorCtr="0">
            <a:noAutofit/>
          </a:bodyPr>
          <a:lstStyle>
            <a:lvl1pPr algn="ctr"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 smtClean="0"/>
              <a:t>Title</a:t>
            </a:r>
            <a:endParaRPr lang="en-US" noProof="0" dirty="0"/>
          </a:p>
        </p:txBody>
      </p:sp>
      <p:sp>
        <p:nvSpPr>
          <p:cNvPr id="22" name="Textplatzhalter 4"/>
          <p:cNvSpPr>
            <a:spLocks noGrp="1"/>
          </p:cNvSpPr>
          <p:nvPr>
            <p:ph type="body" sz="quarter" idx="18" hasCustomPrompt="1"/>
            <p:custDataLst>
              <p:tags r:id="rId6"/>
            </p:custDataLst>
          </p:nvPr>
        </p:nvSpPr>
        <p:spPr>
          <a:xfrm>
            <a:off x="5436096" y="1454399"/>
            <a:ext cx="3276000" cy="3744000"/>
          </a:xfrm>
          <a:ln>
            <a:solidFill>
              <a:schemeClr val="bg2"/>
            </a:solidFill>
          </a:ln>
        </p:spPr>
        <p:txBody>
          <a:bodyPr lIns="62380" tIns="62380" rIns="62380" bIns="62380">
            <a:noAutofit/>
          </a:bodyPr>
          <a:lstStyle>
            <a:lvl1pPr>
              <a:spcBef>
                <a:spcPts val="1040"/>
              </a:spcBef>
              <a:defRPr sz="1400" baseline="0"/>
            </a:lvl1pPr>
            <a:lvl2pPr>
              <a:buClr>
                <a:schemeClr val="accent1"/>
              </a:buCl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 smtClean="0"/>
              <a:t>Level 0</a:t>
            </a:r>
          </a:p>
          <a:p>
            <a:pPr lvl="1"/>
            <a:r>
              <a:rPr lang="en-US" noProof="0" dirty="0" smtClean="0"/>
              <a:t>Level 1</a:t>
            </a:r>
          </a:p>
          <a:p>
            <a:pPr lvl="2"/>
            <a:r>
              <a:rPr lang="en-US" noProof="0" dirty="0" smtClean="0"/>
              <a:t>Level 2</a:t>
            </a:r>
          </a:p>
          <a:p>
            <a:pPr lvl="3"/>
            <a:r>
              <a:rPr lang="en-US" noProof="0" dirty="0" smtClean="0"/>
              <a:t>Level 3</a:t>
            </a:r>
          </a:p>
          <a:p>
            <a:pPr lvl="4"/>
            <a:r>
              <a:rPr lang="en-US" noProof="0" dirty="0" smtClean="0"/>
              <a:t>Level 4</a:t>
            </a:r>
            <a:endParaRPr lang="en-US" noProof="0" dirty="0"/>
          </a:p>
        </p:txBody>
      </p:sp>
      <p:cxnSp>
        <p:nvCxnSpPr>
          <p:cNvPr id="12" name="Gerade Verbindung 14"/>
          <p:cNvCxnSpPr/>
          <p:nvPr userDrawn="1">
            <p:custDataLst>
              <p:tags r:id="rId7"/>
            </p:custDataLst>
          </p:nvPr>
        </p:nvCxnSpPr>
        <p:spPr>
          <a:xfrm flipH="1">
            <a:off x="0" y="769938"/>
            <a:ext cx="9143999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el 5"/>
          <p:cNvSpPr>
            <a:spLocks noGrp="1"/>
          </p:cNvSpPr>
          <p:nvPr>
            <p:ph type="title"/>
          </p:nvPr>
        </p:nvSpPr>
        <p:spPr>
          <a:xfrm>
            <a:off x="431800" y="265212"/>
            <a:ext cx="6480460" cy="288032"/>
          </a:xfrm>
        </p:spPr>
        <p:txBody>
          <a:bodyPr wrap="none"/>
          <a:lstStyle>
            <a:lvl1pPr>
              <a:defRPr b="0"/>
            </a:lvl1pPr>
          </a:lstStyle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19" name="Fußzeilenplatzhalter 9"/>
          <p:cNvSpPr>
            <a:spLocks noGrp="1"/>
          </p:cNvSpPr>
          <p:nvPr>
            <p:ph type="ftr" sz="quarter" idx="17"/>
          </p:nvPr>
        </p:nvSpPr>
        <p:spPr>
          <a:xfrm>
            <a:off x="431800" y="5413784"/>
            <a:ext cx="7740600" cy="240027"/>
          </a:xfrm>
        </p:spPr>
        <p:txBody>
          <a:bodyPr lIns="0" rIns="36000"/>
          <a:lstStyle/>
          <a:p>
            <a:r>
              <a:rPr lang="en-US" smtClean="0"/>
              <a:t>Open Source Energy Mesh | 11/2016 | Martin Jäger</a:t>
            </a:r>
            <a:endParaRPr lang="de-DE" dirty="0"/>
          </a:p>
        </p:txBody>
      </p:sp>
      <p:sp>
        <p:nvSpPr>
          <p:cNvPr id="20" name="Rectangle 6"/>
          <p:cNvSpPr txBox="1">
            <a:spLocks noChangeArrowheads="1"/>
          </p:cNvSpPr>
          <p:nvPr userDrawn="1"/>
        </p:nvSpPr>
        <p:spPr bwMode="auto">
          <a:xfrm>
            <a:off x="8172400" y="5413784"/>
            <a:ext cx="540060" cy="240047"/>
          </a:xfrm>
          <a:prstGeom prst="rect">
            <a:avLst/>
          </a:prstGeom>
        </p:spPr>
        <p:txBody>
          <a:bodyPr vert="horz" lIns="36000" tIns="39621" rIns="0" bIns="39621" rtlCol="0" anchor="ctr"/>
          <a:lstStyle>
            <a:defPPr>
              <a:defRPr lang="de-DE"/>
            </a:defPPr>
            <a:lvl1pPr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algn="r"/>
            <a:fld id="{80F4B4AF-95BE-41A4-83AC-501D93DA230A}" type="slidenum">
              <a:rPr lang="de-DE" smtClean="0"/>
              <a:pPr lvl="0" algn="r"/>
              <a:t>‹Nr.›</a:t>
            </a:fld>
            <a:endParaRPr lang="de-DE" dirty="0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7020272" y="247308"/>
            <a:ext cx="1727932" cy="327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765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and Text 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88016044"/>
              </p:ext>
            </p:extLst>
          </p:nvPr>
        </p:nvGraphicFramePr>
        <p:xfrm>
          <a:off x="0" y="2"/>
          <a:ext cx="158750" cy="176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980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0" y="2"/>
                        <a:ext cx="158750" cy="1763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Inhaltsplatzhalter 8"/>
          <p:cNvSpPr>
            <a:spLocks noGrp="1"/>
          </p:cNvSpPr>
          <p:nvPr>
            <p:ph sz="quarter" idx="20" hasCustomPrompt="1"/>
          </p:nvPr>
        </p:nvSpPr>
        <p:spPr>
          <a:xfrm>
            <a:off x="432000" y="1130399"/>
            <a:ext cx="4032000" cy="4068000"/>
          </a:xfrm>
          <a:ln>
            <a:solidFill>
              <a:schemeClr val="bg2"/>
            </a:solidFill>
          </a:ln>
        </p:spPr>
        <p:txBody>
          <a:bodyPr lIns="62380" tIns="62380" rIns="62380" bIns="62380">
            <a:normAutofit/>
          </a:bodyPr>
          <a:lstStyle>
            <a:lvl1pPr>
              <a:spcBef>
                <a:spcPts val="1040"/>
              </a:spcBef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 smtClean="0"/>
              <a:t>Level 0</a:t>
            </a:r>
          </a:p>
          <a:p>
            <a:pPr lvl="1"/>
            <a:r>
              <a:rPr lang="en-US" noProof="0" dirty="0" smtClean="0"/>
              <a:t>Level 1</a:t>
            </a:r>
          </a:p>
          <a:p>
            <a:pPr lvl="2"/>
            <a:r>
              <a:rPr lang="en-US" noProof="0" dirty="0" smtClean="0"/>
              <a:t>Level 2</a:t>
            </a:r>
          </a:p>
          <a:p>
            <a:pPr lvl="3"/>
            <a:r>
              <a:rPr lang="en-US" noProof="0" dirty="0" smtClean="0"/>
              <a:t>Level 3</a:t>
            </a:r>
          </a:p>
          <a:p>
            <a:pPr lvl="4"/>
            <a:r>
              <a:rPr lang="en-US" noProof="0" dirty="0" smtClean="0"/>
              <a:t>Level 4</a:t>
            </a:r>
            <a:endParaRPr lang="en-US" noProof="0" dirty="0"/>
          </a:p>
        </p:txBody>
      </p:sp>
      <p:sp>
        <p:nvSpPr>
          <p:cNvPr id="21" name="Textplatzhalter 4"/>
          <p:cNvSpPr>
            <a:spLocks noGrp="1"/>
          </p:cNvSpPr>
          <p:nvPr>
            <p:ph type="body" sz="quarter" idx="18" hasCustomPrompt="1"/>
            <p:custDataLst>
              <p:tags r:id="rId3"/>
            </p:custDataLst>
          </p:nvPr>
        </p:nvSpPr>
        <p:spPr>
          <a:xfrm>
            <a:off x="4680000" y="1130400"/>
            <a:ext cx="4032000" cy="4068000"/>
          </a:xfrm>
          <a:ln>
            <a:solidFill>
              <a:schemeClr val="bg2"/>
            </a:solidFill>
          </a:ln>
        </p:spPr>
        <p:txBody>
          <a:bodyPr lIns="62380" tIns="62380" rIns="62380" bIns="62380">
            <a:noAutofit/>
          </a:bodyPr>
          <a:lstStyle>
            <a:lvl1pPr>
              <a:spcBef>
                <a:spcPts val="1040"/>
              </a:spcBef>
              <a:defRPr sz="1400" baseline="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 smtClean="0"/>
              <a:t>Level 0</a:t>
            </a:r>
          </a:p>
          <a:p>
            <a:pPr lvl="1"/>
            <a:r>
              <a:rPr lang="en-US" noProof="0" dirty="0" smtClean="0"/>
              <a:t>Level 1</a:t>
            </a:r>
          </a:p>
          <a:p>
            <a:pPr lvl="2"/>
            <a:r>
              <a:rPr lang="en-US" noProof="0" dirty="0" smtClean="0"/>
              <a:t>Level 2</a:t>
            </a:r>
          </a:p>
          <a:p>
            <a:pPr lvl="3"/>
            <a:r>
              <a:rPr lang="en-US" noProof="0" dirty="0" smtClean="0"/>
              <a:t>Level 3</a:t>
            </a:r>
          </a:p>
          <a:p>
            <a:pPr lvl="4"/>
            <a:r>
              <a:rPr lang="en-US" noProof="0" dirty="0" smtClean="0"/>
              <a:t>Level 4</a:t>
            </a:r>
            <a:endParaRPr lang="en-US" noProof="0" dirty="0"/>
          </a:p>
        </p:txBody>
      </p:sp>
      <p:cxnSp>
        <p:nvCxnSpPr>
          <p:cNvPr id="11" name="Gerade Verbindung 14"/>
          <p:cNvCxnSpPr/>
          <p:nvPr userDrawn="1">
            <p:custDataLst>
              <p:tags r:id="rId4"/>
            </p:custDataLst>
          </p:nvPr>
        </p:nvCxnSpPr>
        <p:spPr>
          <a:xfrm flipH="1">
            <a:off x="0" y="769938"/>
            <a:ext cx="9143999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el 5"/>
          <p:cNvSpPr>
            <a:spLocks noGrp="1"/>
          </p:cNvSpPr>
          <p:nvPr>
            <p:ph type="title"/>
          </p:nvPr>
        </p:nvSpPr>
        <p:spPr>
          <a:xfrm>
            <a:off x="432000" y="265212"/>
            <a:ext cx="6480000" cy="288032"/>
          </a:xfrm>
        </p:spPr>
        <p:txBody>
          <a:bodyPr wrap="none"/>
          <a:lstStyle>
            <a:lvl1pPr>
              <a:defRPr b="0"/>
            </a:lvl1pPr>
          </a:lstStyle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16" name="Fußzeilenplatzhalter 9"/>
          <p:cNvSpPr>
            <a:spLocks noGrp="1"/>
          </p:cNvSpPr>
          <p:nvPr>
            <p:ph type="ftr" sz="quarter" idx="17"/>
          </p:nvPr>
        </p:nvSpPr>
        <p:spPr>
          <a:xfrm>
            <a:off x="431800" y="5413784"/>
            <a:ext cx="7740600" cy="240027"/>
          </a:xfrm>
        </p:spPr>
        <p:txBody>
          <a:bodyPr lIns="0" rIns="36000"/>
          <a:lstStyle/>
          <a:p>
            <a:r>
              <a:rPr lang="en-US" smtClean="0"/>
              <a:t>Open Source Energy Mesh | 11/2016 | Martin Jäger</a:t>
            </a:r>
            <a:endParaRPr lang="de-DE" dirty="0"/>
          </a:p>
        </p:txBody>
      </p:sp>
      <p:sp>
        <p:nvSpPr>
          <p:cNvPr id="17" name="Rectangle 6"/>
          <p:cNvSpPr txBox="1">
            <a:spLocks noChangeArrowheads="1"/>
          </p:cNvSpPr>
          <p:nvPr userDrawn="1"/>
        </p:nvSpPr>
        <p:spPr bwMode="auto">
          <a:xfrm>
            <a:off x="8172400" y="5413784"/>
            <a:ext cx="540060" cy="240047"/>
          </a:xfrm>
          <a:prstGeom prst="rect">
            <a:avLst/>
          </a:prstGeom>
        </p:spPr>
        <p:txBody>
          <a:bodyPr vert="horz" lIns="36000" tIns="39621" rIns="0" bIns="39621" rtlCol="0" anchor="ctr"/>
          <a:lstStyle>
            <a:defPPr>
              <a:defRPr lang="de-DE"/>
            </a:defPPr>
            <a:lvl1pPr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algn="r"/>
            <a:fld id="{80F4B4AF-95BE-41A4-83AC-501D93DA230A}" type="slidenum">
              <a:rPr lang="de-DE" smtClean="0"/>
              <a:pPr lvl="0" algn="r"/>
              <a:t>‹Nr.›</a:t>
            </a:fld>
            <a:endParaRPr lang="de-DE" dirty="0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0272" y="247308"/>
            <a:ext cx="1727932" cy="327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3203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and Text 1/2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39897303"/>
              </p:ext>
            </p:extLst>
          </p:nvPr>
        </p:nvGraphicFramePr>
        <p:xfrm>
          <a:off x="0" y="2"/>
          <a:ext cx="158750" cy="176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932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0" y="2"/>
                        <a:ext cx="158750" cy="1763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Inhaltsplatzhalter 8"/>
          <p:cNvSpPr>
            <a:spLocks noGrp="1"/>
          </p:cNvSpPr>
          <p:nvPr>
            <p:ph sz="quarter" idx="20" hasCustomPrompt="1"/>
          </p:nvPr>
        </p:nvSpPr>
        <p:spPr>
          <a:xfrm>
            <a:off x="432000" y="1454400"/>
            <a:ext cx="4032000" cy="3744000"/>
          </a:xfrm>
          <a:ln>
            <a:solidFill>
              <a:schemeClr val="bg2"/>
            </a:solidFill>
          </a:ln>
        </p:spPr>
        <p:txBody>
          <a:bodyPr lIns="62380" tIns="62380" rIns="62380" bIns="62380">
            <a:noAutofit/>
          </a:bodyPr>
          <a:lstStyle>
            <a:lvl1pPr>
              <a:spcBef>
                <a:spcPts val="1040"/>
              </a:spcBef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 smtClean="0"/>
              <a:t>Level 0</a:t>
            </a:r>
          </a:p>
          <a:p>
            <a:pPr lvl="1"/>
            <a:r>
              <a:rPr lang="en-US" noProof="0" dirty="0" smtClean="0"/>
              <a:t>Level 1</a:t>
            </a:r>
          </a:p>
          <a:p>
            <a:pPr lvl="2"/>
            <a:r>
              <a:rPr lang="en-US" noProof="0" dirty="0" smtClean="0"/>
              <a:t>Level 2</a:t>
            </a:r>
          </a:p>
          <a:p>
            <a:pPr lvl="3"/>
            <a:r>
              <a:rPr lang="en-US" noProof="0" dirty="0" smtClean="0"/>
              <a:t>Level 3</a:t>
            </a:r>
          </a:p>
          <a:p>
            <a:pPr lvl="4"/>
            <a:r>
              <a:rPr lang="en-US" noProof="0" dirty="0" smtClean="0"/>
              <a:t>Level 4</a:t>
            </a:r>
            <a:endParaRPr lang="en-US" noProof="0" dirty="0"/>
          </a:p>
        </p:txBody>
      </p:sp>
      <p:sp>
        <p:nvSpPr>
          <p:cNvPr id="23" name="Textplatzhalter 6"/>
          <p:cNvSpPr>
            <a:spLocks noGrp="1"/>
          </p:cNvSpPr>
          <p:nvPr>
            <p:ph type="body" sz="quarter" idx="21" hasCustomPrompt="1"/>
          </p:nvPr>
        </p:nvSpPr>
        <p:spPr>
          <a:xfrm>
            <a:off x="432000" y="1130399"/>
            <a:ext cx="4032000" cy="324000"/>
          </a:xfrm>
          <a:solidFill>
            <a:schemeClr val="bg1">
              <a:lumMod val="85000"/>
            </a:schemeClr>
          </a:solidFill>
          <a:ln>
            <a:solidFill>
              <a:schemeClr val="bg2"/>
            </a:solidFill>
          </a:ln>
        </p:spPr>
        <p:txBody>
          <a:bodyPr anchor="ctr" anchorCtr="0">
            <a:noAutofit/>
          </a:bodyPr>
          <a:lstStyle>
            <a:lvl1pPr algn="ctr"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smtClean="0"/>
              <a:t>Title</a:t>
            </a:r>
            <a:endParaRPr lang="en-US" noProof="0"/>
          </a:p>
        </p:txBody>
      </p:sp>
      <p:sp>
        <p:nvSpPr>
          <p:cNvPr id="25" name="Textplatzhalter 6"/>
          <p:cNvSpPr>
            <a:spLocks noGrp="1"/>
          </p:cNvSpPr>
          <p:nvPr>
            <p:ph type="body" sz="quarter" idx="22" hasCustomPrompt="1"/>
          </p:nvPr>
        </p:nvSpPr>
        <p:spPr>
          <a:xfrm>
            <a:off x="4680000" y="1130400"/>
            <a:ext cx="4032000" cy="324000"/>
          </a:xfrm>
          <a:solidFill>
            <a:schemeClr val="bg1">
              <a:lumMod val="85000"/>
            </a:schemeClr>
          </a:solidFill>
          <a:ln>
            <a:solidFill>
              <a:schemeClr val="bg2"/>
            </a:solidFill>
          </a:ln>
        </p:spPr>
        <p:txBody>
          <a:bodyPr anchor="ctr" anchorCtr="0">
            <a:noAutofit/>
          </a:bodyPr>
          <a:lstStyle>
            <a:lvl1pPr algn="ctr"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smtClean="0"/>
              <a:t>Title</a:t>
            </a:r>
            <a:endParaRPr lang="en-US" noProof="0"/>
          </a:p>
        </p:txBody>
      </p:sp>
      <p:sp>
        <p:nvSpPr>
          <p:cNvPr id="21" name="Textplatzhalter 4"/>
          <p:cNvSpPr>
            <a:spLocks noGrp="1"/>
          </p:cNvSpPr>
          <p:nvPr>
            <p:ph type="body" sz="quarter" idx="18" hasCustomPrompt="1"/>
            <p:custDataLst>
              <p:tags r:id="rId3"/>
            </p:custDataLst>
          </p:nvPr>
        </p:nvSpPr>
        <p:spPr>
          <a:xfrm>
            <a:off x="4680000" y="1454400"/>
            <a:ext cx="4032000" cy="3744000"/>
          </a:xfrm>
          <a:ln>
            <a:solidFill>
              <a:schemeClr val="bg2"/>
            </a:solidFill>
          </a:ln>
        </p:spPr>
        <p:txBody>
          <a:bodyPr lIns="62380" tIns="62380" rIns="62380" bIns="62380">
            <a:noAutofit/>
          </a:bodyPr>
          <a:lstStyle>
            <a:lvl1pPr>
              <a:spcBef>
                <a:spcPts val="1040"/>
              </a:spcBef>
              <a:defRPr sz="1400" baseline="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 smtClean="0"/>
              <a:t>Level 0</a:t>
            </a:r>
          </a:p>
          <a:p>
            <a:pPr lvl="1"/>
            <a:r>
              <a:rPr lang="en-US" noProof="0" dirty="0" smtClean="0"/>
              <a:t>Level 1</a:t>
            </a:r>
          </a:p>
          <a:p>
            <a:pPr lvl="2"/>
            <a:r>
              <a:rPr lang="en-US" noProof="0" dirty="0" smtClean="0"/>
              <a:t>Level 2</a:t>
            </a:r>
          </a:p>
          <a:p>
            <a:pPr lvl="3"/>
            <a:r>
              <a:rPr lang="en-US" noProof="0" dirty="0" smtClean="0"/>
              <a:t>Level 3</a:t>
            </a:r>
          </a:p>
          <a:p>
            <a:pPr lvl="4"/>
            <a:r>
              <a:rPr lang="en-US" noProof="0" dirty="0" smtClean="0"/>
              <a:t>Level 4</a:t>
            </a:r>
            <a:endParaRPr lang="en-US" noProof="0" dirty="0"/>
          </a:p>
        </p:txBody>
      </p:sp>
      <p:cxnSp>
        <p:nvCxnSpPr>
          <p:cNvPr id="12" name="Gerade Verbindung 14"/>
          <p:cNvCxnSpPr/>
          <p:nvPr userDrawn="1">
            <p:custDataLst>
              <p:tags r:id="rId4"/>
            </p:custDataLst>
          </p:nvPr>
        </p:nvCxnSpPr>
        <p:spPr>
          <a:xfrm flipH="1">
            <a:off x="0" y="769938"/>
            <a:ext cx="9143999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el 5"/>
          <p:cNvSpPr>
            <a:spLocks noGrp="1"/>
          </p:cNvSpPr>
          <p:nvPr>
            <p:ph type="title"/>
          </p:nvPr>
        </p:nvSpPr>
        <p:spPr>
          <a:xfrm>
            <a:off x="432000" y="265212"/>
            <a:ext cx="6480000" cy="288032"/>
          </a:xfrm>
        </p:spPr>
        <p:txBody>
          <a:bodyPr wrap="none"/>
          <a:lstStyle>
            <a:lvl1pPr>
              <a:defRPr b="0"/>
            </a:lvl1pPr>
          </a:lstStyle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17" name="Fußzeilenplatzhalter 9"/>
          <p:cNvSpPr>
            <a:spLocks noGrp="1"/>
          </p:cNvSpPr>
          <p:nvPr>
            <p:ph type="ftr" sz="quarter" idx="17"/>
          </p:nvPr>
        </p:nvSpPr>
        <p:spPr>
          <a:xfrm>
            <a:off x="431800" y="5413784"/>
            <a:ext cx="7740600" cy="240027"/>
          </a:xfrm>
        </p:spPr>
        <p:txBody>
          <a:bodyPr lIns="0" rIns="36000"/>
          <a:lstStyle/>
          <a:p>
            <a:r>
              <a:rPr lang="en-US" smtClean="0"/>
              <a:t>Open Source Energy Mesh | 11/2016 | Martin Jäger</a:t>
            </a:r>
            <a:endParaRPr lang="de-DE" dirty="0"/>
          </a:p>
        </p:txBody>
      </p:sp>
      <p:sp>
        <p:nvSpPr>
          <p:cNvPr id="18" name="Rectangle 6"/>
          <p:cNvSpPr txBox="1">
            <a:spLocks noChangeArrowheads="1"/>
          </p:cNvSpPr>
          <p:nvPr userDrawn="1"/>
        </p:nvSpPr>
        <p:spPr bwMode="auto">
          <a:xfrm>
            <a:off x="8172400" y="5413784"/>
            <a:ext cx="540060" cy="240047"/>
          </a:xfrm>
          <a:prstGeom prst="rect">
            <a:avLst/>
          </a:prstGeom>
        </p:spPr>
        <p:txBody>
          <a:bodyPr vert="horz" lIns="36000" tIns="39621" rIns="0" bIns="39621" rtlCol="0" anchor="ctr"/>
          <a:lstStyle>
            <a:defPPr>
              <a:defRPr lang="de-DE"/>
            </a:defPPr>
            <a:lvl1pPr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algn="r"/>
            <a:fld id="{80F4B4AF-95BE-41A4-83AC-501D93DA230A}" type="slidenum">
              <a:rPr lang="de-DE" smtClean="0"/>
              <a:pPr lvl="0" algn="r"/>
              <a:t>‹Nr.›</a:t>
            </a:fld>
            <a:endParaRPr lang="de-DE" dirty="0"/>
          </a:p>
        </p:txBody>
      </p:sp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0272" y="247308"/>
            <a:ext cx="1727932" cy="327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4816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4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vmlDrawing" Target="../drawings/vmlDrawing1.v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/>
          </p:cNvGraphicFramePr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930566682"/>
              </p:ext>
            </p:extLst>
          </p:nvPr>
        </p:nvGraphicFramePr>
        <p:xfrm>
          <a:off x="0" y="2"/>
          <a:ext cx="158750" cy="176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848" name="think-cell Slide" r:id="rId14" imgW="270" imgH="270" progId="TCLayout.ActiveDocument.1">
                  <p:embed/>
                </p:oleObj>
              </mc:Choice>
              <mc:Fallback>
                <p:oleObj name="think-cell Slide" r:id="rId1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0" y="2"/>
                        <a:ext cx="158750" cy="1763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412046" y="337222"/>
            <a:ext cx="8300154" cy="54814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 dirty="0" smtClean="0"/>
              <a:t>Title master format by click treat</a:t>
            </a:r>
            <a:endParaRPr lang="en-US" noProof="0" dirty="0"/>
          </a:p>
        </p:txBody>
      </p:sp>
      <p:sp>
        <p:nvSpPr>
          <p:cNvPr id="6" name="Textplatzhalter 5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412044" y="1236933"/>
            <a:ext cx="8300156" cy="39608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 smtClean="0"/>
              <a:t>Level 0</a:t>
            </a:r>
          </a:p>
          <a:p>
            <a:pPr lvl="1"/>
            <a:r>
              <a:rPr lang="en-US" noProof="0" dirty="0" smtClean="0"/>
              <a:t>Level 1</a:t>
            </a:r>
          </a:p>
          <a:p>
            <a:pPr lvl="2"/>
            <a:r>
              <a:rPr lang="en-US" noProof="0" dirty="0" smtClean="0"/>
              <a:t>Level 2</a:t>
            </a:r>
          </a:p>
          <a:p>
            <a:pPr lvl="3"/>
            <a:r>
              <a:rPr lang="en-US" noProof="0" dirty="0" smtClean="0"/>
              <a:t>Level 3</a:t>
            </a:r>
          </a:p>
          <a:p>
            <a:pPr lvl="4"/>
            <a:r>
              <a:rPr lang="en-US" noProof="0" dirty="0" smtClean="0"/>
              <a:t>Level 4</a:t>
            </a:r>
            <a:endParaRPr lang="en-US" noProof="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412045" y="5347778"/>
            <a:ext cx="6912261" cy="240027"/>
          </a:xfrm>
          <a:prstGeom prst="rect">
            <a:avLst/>
          </a:prstGeom>
        </p:spPr>
        <p:txBody>
          <a:bodyPr vert="horz" lIns="79242" tIns="39621" rIns="79242" bIns="39621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Open Source Energy Mesh | 11/2016 | Martin Jäger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06007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9" r:id="rId2"/>
    <p:sldLayoutId id="2147483666" r:id="rId3"/>
    <p:sldLayoutId id="2147483665" r:id="rId4"/>
    <p:sldLayoutId id="2147483670" r:id="rId5"/>
    <p:sldLayoutId id="2147483671" r:id="rId6"/>
    <p:sldLayoutId id="2147483677" r:id="rId7"/>
    <p:sldLayoutId id="2147483676" r:id="rId8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defTabSz="792234" rtl="0" eaLnBrk="1" latinLnBrk="0" hangingPunct="1">
        <a:spcBef>
          <a:spcPct val="0"/>
        </a:spcBef>
        <a:buNone/>
        <a:defRPr sz="17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792234" rtl="0" eaLnBrk="1" latinLnBrk="0" hangingPunct="1">
        <a:spcBef>
          <a:spcPts val="1560"/>
        </a:spcBef>
        <a:buFont typeface="Arial" pitchFamily="34" charset="0"/>
        <a:buNone/>
        <a:defRPr sz="16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32444" indent="-232444" algn="l" defTabSz="792234" rtl="0" eaLnBrk="1" latinLnBrk="0" hangingPunct="1">
        <a:spcBef>
          <a:spcPts val="693"/>
        </a:spcBef>
        <a:buClr>
          <a:schemeClr val="accent1"/>
        </a:buClr>
        <a:buFont typeface="Wingdings" pitchFamily="2" charset="2"/>
        <a:buChar char="n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64887" indent="-233820" algn="l" defTabSz="792234" rtl="0" eaLnBrk="1" latinLnBrk="0" hangingPunct="1">
        <a:spcBef>
          <a:spcPts val="520"/>
        </a:spcBef>
        <a:buClr>
          <a:srgbClr val="00549F"/>
        </a:buClr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97331" indent="-232444" algn="l" defTabSz="792234" rtl="0" eaLnBrk="1" latinLnBrk="0" hangingPunct="1">
        <a:spcBef>
          <a:spcPts val="260"/>
        </a:spcBef>
        <a:buClr>
          <a:schemeClr val="accent2"/>
        </a:buClr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7331" indent="0" algn="l" defTabSz="792234" rtl="0" eaLnBrk="1" latinLnBrk="0" hangingPunct="1">
        <a:spcBef>
          <a:spcPts val="260"/>
        </a:spcBef>
        <a:buFont typeface="Arial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178644" indent="-198059" algn="l" defTabSz="792234" rtl="0" eaLnBrk="1" latinLnBrk="0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74760" indent="-198059" algn="l" defTabSz="792234" rtl="0" eaLnBrk="1" latinLnBrk="0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970876" indent="-198059" algn="l" defTabSz="792234" rtl="0" eaLnBrk="1" latinLnBrk="0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366993" indent="-198059" algn="l" defTabSz="792234" rtl="0" eaLnBrk="1" latinLnBrk="0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79223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96118" algn="l" defTabSz="79223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92234" algn="l" defTabSz="79223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351" algn="l" defTabSz="79223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84468" algn="l" defTabSz="79223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980585" algn="l" defTabSz="79223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6701" algn="l" defTabSz="79223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72818" algn="l" defTabSz="79223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68934" algn="l" defTabSz="79223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image" Target="../media/image2.emf"/><Relationship Id="rId2" Type="http://schemas.openxmlformats.org/officeDocument/2006/relationships/tags" Target="../tags/tag33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0.bin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5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" name="Objekt 67" hidden="1"/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02713716"/>
              </p:ext>
            </p:extLst>
          </p:nvPr>
        </p:nvGraphicFramePr>
        <p:xfrm>
          <a:off x="0" y="4"/>
          <a:ext cx="158750" cy="132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661" name="think-cell Slide" r:id="rId6" imgW="465" imgH="464" progId="TCLayout.ActiveDocument.1">
                  <p:embed/>
                </p:oleObj>
              </mc:Choice>
              <mc:Fallback>
                <p:oleObj name="think-cell Slide" r:id="rId6" imgW="465" imgH="46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0" y="4"/>
                        <a:ext cx="158750" cy="1322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platzhalt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r"/>
            <a:r>
              <a:rPr lang="en-US" dirty="0" smtClean="0"/>
              <a:t>Berlin, 20.01.2018</a:t>
            </a:r>
            <a:endParaRPr lang="en-US" dirty="0"/>
          </a:p>
        </p:txBody>
      </p:sp>
      <p:sp>
        <p:nvSpPr>
          <p:cNvPr id="2" name="Titel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431539" y="3939547"/>
            <a:ext cx="8280920" cy="738664"/>
          </a:xfrm>
        </p:spPr>
        <p:txBody>
          <a:bodyPr/>
          <a:lstStyle/>
          <a:p>
            <a:r>
              <a:rPr lang="en-US" dirty="0"/>
              <a:t>DC </a:t>
            </a:r>
            <a:r>
              <a:rPr lang="en-US" dirty="0" smtClean="0"/>
              <a:t>Nano grid </a:t>
            </a:r>
            <a:r>
              <a:rPr lang="en-US" dirty="0"/>
              <a:t>based on </a:t>
            </a:r>
            <a:br>
              <a:rPr lang="en-US" dirty="0"/>
            </a:br>
            <a:r>
              <a:rPr lang="en-US" dirty="0"/>
              <a:t>open source renewable energy electronics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Martin Jäger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184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</a:t>
            </a:r>
            <a:r>
              <a:rPr lang="en-US" dirty="0" err="1" smtClean="0"/>
              <a:t>uni</a:t>
            </a:r>
            <a:r>
              <a:rPr lang="en-US" dirty="0" smtClean="0"/>
              <a:t>-directional electricity grid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de-DE" dirty="0"/>
          </a:p>
        </p:txBody>
      </p:sp>
      <p:cxnSp>
        <p:nvCxnSpPr>
          <p:cNvPr id="8" name="Gerader Verbinder 7"/>
          <p:cNvCxnSpPr/>
          <p:nvPr/>
        </p:nvCxnSpPr>
        <p:spPr>
          <a:xfrm>
            <a:off x="1138241" y="2324502"/>
            <a:ext cx="0" cy="36004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/>
          <p:cNvCxnSpPr/>
          <p:nvPr/>
        </p:nvCxnSpPr>
        <p:spPr>
          <a:xfrm flipH="1">
            <a:off x="1138245" y="2684542"/>
            <a:ext cx="5233955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/>
          <p:cNvCxnSpPr/>
          <p:nvPr/>
        </p:nvCxnSpPr>
        <p:spPr>
          <a:xfrm>
            <a:off x="2591780" y="2314424"/>
            <a:ext cx="0" cy="36004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/>
          <p:cNvCxnSpPr/>
          <p:nvPr/>
        </p:nvCxnSpPr>
        <p:spPr>
          <a:xfrm>
            <a:off x="2951820" y="3577580"/>
            <a:ext cx="0" cy="18002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/>
          <p:cNvCxnSpPr/>
          <p:nvPr/>
        </p:nvCxnSpPr>
        <p:spPr>
          <a:xfrm>
            <a:off x="2951820" y="3577580"/>
            <a:ext cx="396434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/>
          <p:cNvCxnSpPr/>
          <p:nvPr/>
        </p:nvCxnSpPr>
        <p:spPr>
          <a:xfrm>
            <a:off x="6916162" y="3289548"/>
            <a:ext cx="0" cy="288032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/>
          <p:cNvCxnSpPr/>
          <p:nvPr/>
        </p:nvCxnSpPr>
        <p:spPr>
          <a:xfrm flipH="1">
            <a:off x="2751928" y="4760603"/>
            <a:ext cx="46021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/>
          <p:cNvCxnSpPr/>
          <p:nvPr/>
        </p:nvCxnSpPr>
        <p:spPr>
          <a:xfrm>
            <a:off x="2944512" y="4403653"/>
            <a:ext cx="7308" cy="35695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254" y="4632774"/>
            <a:ext cx="720080" cy="300693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532" y="3855007"/>
            <a:ext cx="476576" cy="45081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1718" y="1061076"/>
            <a:ext cx="920420" cy="993566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318238"/>
            <a:ext cx="981375" cy="713173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8110" y="1318238"/>
            <a:ext cx="981372" cy="791263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351" y="2314424"/>
            <a:ext cx="914333" cy="836967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499111" y="4610257"/>
            <a:ext cx="163484" cy="345729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685" y="1170795"/>
            <a:ext cx="524213" cy="883847"/>
          </a:xfrm>
          <a:prstGeom prst="rect">
            <a:avLst/>
          </a:prstGeom>
        </p:spPr>
      </p:pic>
      <p:cxnSp>
        <p:nvCxnSpPr>
          <p:cNvPr id="31" name="Gerader Verbinder 10"/>
          <p:cNvCxnSpPr/>
          <p:nvPr/>
        </p:nvCxnSpPr>
        <p:spPr>
          <a:xfrm>
            <a:off x="3892000" y="2328839"/>
            <a:ext cx="0" cy="36004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10"/>
          <p:cNvCxnSpPr/>
          <p:nvPr/>
        </p:nvCxnSpPr>
        <p:spPr>
          <a:xfrm>
            <a:off x="5384164" y="2314424"/>
            <a:ext cx="0" cy="36004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11"/>
          <p:cNvCxnSpPr/>
          <p:nvPr/>
        </p:nvCxnSpPr>
        <p:spPr>
          <a:xfrm>
            <a:off x="4954330" y="3577580"/>
            <a:ext cx="0" cy="18002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42" y="3895550"/>
            <a:ext cx="476576" cy="450815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330572" y="4610257"/>
            <a:ext cx="163484" cy="345729"/>
          </a:xfrm>
          <a:prstGeom prst="rect">
            <a:avLst/>
          </a:prstGeom>
        </p:spPr>
      </p:pic>
      <p:cxnSp>
        <p:nvCxnSpPr>
          <p:cNvPr id="41" name="Gerader Verbinder 16"/>
          <p:cNvCxnSpPr/>
          <p:nvPr/>
        </p:nvCxnSpPr>
        <p:spPr>
          <a:xfrm flipH="1">
            <a:off x="4754438" y="4760603"/>
            <a:ext cx="46021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18"/>
          <p:cNvCxnSpPr/>
          <p:nvPr/>
        </p:nvCxnSpPr>
        <p:spPr>
          <a:xfrm>
            <a:off x="4947022" y="4403653"/>
            <a:ext cx="7308" cy="35695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Picture 4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501621" y="4610257"/>
            <a:ext cx="163484" cy="345729"/>
          </a:xfrm>
          <a:prstGeom prst="rect">
            <a:avLst/>
          </a:prstGeom>
        </p:spPr>
      </p:pic>
      <p:sp>
        <p:nvSpPr>
          <p:cNvPr id="45" name="Arc 44"/>
          <p:cNvSpPr/>
          <p:nvPr/>
        </p:nvSpPr>
        <p:spPr>
          <a:xfrm rot="5400000">
            <a:off x="5923544" y="2943024"/>
            <a:ext cx="514982" cy="382329"/>
          </a:xfrm>
          <a:prstGeom prst="arc">
            <a:avLst>
              <a:gd name="adj1" fmla="val 11403473"/>
              <a:gd name="adj2" fmla="val 21474186"/>
            </a:avLst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Arc 45"/>
          <p:cNvSpPr/>
          <p:nvPr/>
        </p:nvSpPr>
        <p:spPr>
          <a:xfrm rot="5400000">
            <a:off x="4627772" y="4415266"/>
            <a:ext cx="253331" cy="250042"/>
          </a:xfrm>
          <a:prstGeom prst="arc">
            <a:avLst>
              <a:gd name="adj1" fmla="val 15936656"/>
              <a:gd name="adj2" fmla="val 21583158"/>
            </a:avLst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rc 46"/>
          <p:cNvSpPr/>
          <p:nvPr/>
        </p:nvSpPr>
        <p:spPr>
          <a:xfrm rot="5400000" flipV="1">
            <a:off x="5023592" y="4415881"/>
            <a:ext cx="253331" cy="256728"/>
          </a:xfrm>
          <a:prstGeom prst="arc">
            <a:avLst>
              <a:gd name="adj1" fmla="val 15936656"/>
              <a:gd name="adj2" fmla="val 21583158"/>
            </a:avLst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rc 47"/>
          <p:cNvSpPr/>
          <p:nvPr/>
        </p:nvSpPr>
        <p:spPr>
          <a:xfrm rot="5400000">
            <a:off x="2626140" y="4438059"/>
            <a:ext cx="253331" cy="250042"/>
          </a:xfrm>
          <a:prstGeom prst="arc">
            <a:avLst>
              <a:gd name="adj1" fmla="val 15936656"/>
              <a:gd name="adj2" fmla="val 21583158"/>
            </a:avLst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c 48"/>
          <p:cNvSpPr/>
          <p:nvPr/>
        </p:nvSpPr>
        <p:spPr>
          <a:xfrm rot="5400000" flipV="1">
            <a:off x="3021960" y="4438674"/>
            <a:ext cx="253331" cy="256728"/>
          </a:xfrm>
          <a:prstGeom prst="arc">
            <a:avLst>
              <a:gd name="adj1" fmla="val 15936656"/>
              <a:gd name="adj2" fmla="val 21583158"/>
            </a:avLst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Arc 49"/>
          <p:cNvSpPr/>
          <p:nvPr/>
        </p:nvSpPr>
        <p:spPr>
          <a:xfrm rot="5400000" flipV="1">
            <a:off x="1281718" y="2195139"/>
            <a:ext cx="398745" cy="423881"/>
          </a:xfrm>
          <a:prstGeom prst="arc">
            <a:avLst>
              <a:gd name="adj1" fmla="val 15936656"/>
              <a:gd name="adj2" fmla="val 21583158"/>
            </a:avLst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c 50"/>
          <p:cNvSpPr/>
          <p:nvPr/>
        </p:nvSpPr>
        <p:spPr>
          <a:xfrm rot="5400000" flipV="1">
            <a:off x="2726100" y="2195139"/>
            <a:ext cx="398745" cy="423881"/>
          </a:xfrm>
          <a:prstGeom prst="arc">
            <a:avLst>
              <a:gd name="adj1" fmla="val 15936656"/>
              <a:gd name="adj2" fmla="val 21583158"/>
            </a:avLst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Arc 51"/>
          <p:cNvSpPr/>
          <p:nvPr/>
        </p:nvSpPr>
        <p:spPr>
          <a:xfrm rot="5400000" flipV="1">
            <a:off x="4014829" y="2195139"/>
            <a:ext cx="398745" cy="423881"/>
          </a:xfrm>
          <a:prstGeom prst="arc">
            <a:avLst>
              <a:gd name="adj1" fmla="val 15936656"/>
              <a:gd name="adj2" fmla="val 21583158"/>
            </a:avLst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rc 52"/>
          <p:cNvSpPr/>
          <p:nvPr/>
        </p:nvSpPr>
        <p:spPr>
          <a:xfrm rot="5400000" flipV="1">
            <a:off x="5494884" y="2195139"/>
            <a:ext cx="398745" cy="423881"/>
          </a:xfrm>
          <a:prstGeom prst="arc">
            <a:avLst>
              <a:gd name="adj1" fmla="val 15936656"/>
              <a:gd name="adj2" fmla="val 21583158"/>
            </a:avLst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Gerader Verbinder 11"/>
          <p:cNvCxnSpPr/>
          <p:nvPr/>
        </p:nvCxnSpPr>
        <p:spPr>
          <a:xfrm>
            <a:off x="2208986" y="4077045"/>
            <a:ext cx="382794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Picture 57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904" y="3866502"/>
            <a:ext cx="473054" cy="381415"/>
          </a:xfrm>
          <a:prstGeom prst="rect">
            <a:avLst/>
          </a:prstGeom>
        </p:spPr>
      </p:pic>
      <p:sp>
        <p:nvSpPr>
          <p:cNvPr id="59" name="Arc 58"/>
          <p:cNvSpPr/>
          <p:nvPr/>
        </p:nvSpPr>
        <p:spPr>
          <a:xfrm flipV="1">
            <a:off x="2263850" y="3499722"/>
            <a:ext cx="398745" cy="423881"/>
          </a:xfrm>
          <a:prstGeom prst="arc">
            <a:avLst>
              <a:gd name="adj1" fmla="val 15936656"/>
              <a:gd name="adj2" fmla="val 21583158"/>
            </a:avLst>
          </a:prstGeom>
          <a:ln w="190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314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 </a:t>
            </a:r>
            <a:r>
              <a:rPr lang="en-US" dirty="0" err="1" smtClean="0"/>
              <a:t>nano</a:t>
            </a:r>
            <a:r>
              <a:rPr lang="en-US" dirty="0"/>
              <a:t>-</a:t>
            </a:r>
            <a:r>
              <a:rPr lang="en-US" dirty="0" smtClean="0"/>
              <a:t>grid with Open </a:t>
            </a:r>
            <a:r>
              <a:rPr lang="en-US" dirty="0"/>
              <a:t>Source Hardware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de-DE" dirty="0"/>
          </a:p>
        </p:txBody>
      </p:sp>
      <p:cxnSp>
        <p:nvCxnSpPr>
          <p:cNvPr id="13" name="Gerader Verbinder 12"/>
          <p:cNvCxnSpPr>
            <a:stCxn id="69" idx="1"/>
          </p:cNvCxnSpPr>
          <p:nvPr/>
        </p:nvCxnSpPr>
        <p:spPr>
          <a:xfrm flipH="1" flipV="1">
            <a:off x="1679173" y="1934080"/>
            <a:ext cx="421960" cy="7764"/>
          </a:xfrm>
          <a:prstGeom prst="line">
            <a:avLst/>
          </a:prstGeom>
          <a:ln w="19050">
            <a:solidFill>
              <a:srgbClr val="F6A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/>
          <p:cNvCxnSpPr/>
          <p:nvPr/>
        </p:nvCxnSpPr>
        <p:spPr>
          <a:xfrm flipV="1">
            <a:off x="2607820" y="1937998"/>
            <a:ext cx="606422" cy="1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/>
          <p:cNvCxnSpPr/>
          <p:nvPr/>
        </p:nvCxnSpPr>
        <p:spPr>
          <a:xfrm flipH="1" flipV="1">
            <a:off x="2607820" y="3018905"/>
            <a:ext cx="606422" cy="997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/>
          <p:cNvCxnSpPr/>
          <p:nvPr/>
        </p:nvCxnSpPr>
        <p:spPr>
          <a:xfrm flipH="1" flipV="1">
            <a:off x="2643583" y="4706722"/>
            <a:ext cx="545972" cy="6746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/>
          <p:cNvCxnSpPr/>
          <p:nvPr/>
        </p:nvCxnSpPr>
        <p:spPr>
          <a:xfrm flipH="1">
            <a:off x="3206534" y="2496071"/>
            <a:ext cx="500580" cy="241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/>
          <p:cNvCxnSpPr/>
          <p:nvPr/>
        </p:nvCxnSpPr>
        <p:spPr>
          <a:xfrm flipV="1">
            <a:off x="3190180" y="1934080"/>
            <a:ext cx="24062" cy="2779388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/>
          <p:cNvCxnSpPr/>
          <p:nvPr/>
        </p:nvCxnSpPr>
        <p:spPr>
          <a:xfrm flipH="1">
            <a:off x="3206877" y="3282907"/>
            <a:ext cx="531374" cy="0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/>
          <p:cNvCxnSpPr>
            <a:stCxn id="75" idx="1"/>
          </p:cNvCxnSpPr>
          <p:nvPr/>
        </p:nvCxnSpPr>
        <p:spPr>
          <a:xfrm flipH="1">
            <a:off x="1583668" y="3016105"/>
            <a:ext cx="517465" cy="2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58"/>
          <p:cNvCxnSpPr/>
          <p:nvPr/>
        </p:nvCxnSpPr>
        <p:spPr>
          <a:xfrm flipH="1">
            <a:off x="3189555" y="4140011"/>
            <a:ext cx="531374" cy="0"/>
          </a:xfrm>
          <a:prstGeom prst="line">
            <a:avLst/>
          </a:prstGeom>
          <a:ln w="19050">
            <a:solidFill>
              <a:schemeClr val="accent5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r Verbinder 59"/>
          <p:cNvCxnSpPr/>
          <p:nvPr/>
        </p:nvCxnSpPr>
        <p:spPr>
          <a:xfrm flipH="1">
            <a:off x="4209677" y="4140011"/>
            <a:ext cx="539592" cy="0"/>
          </a:xfrm>
          <a:prstGeom prst="line">
            <a:avLst/>
          </a:prstGeom>
          <a:ln w="19050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/>
          <p:cNvCxnSpPr/>
          <p:nvPr/>
        </p:nvCxnSpPr>
        <p:spPr>
          <a:xfrm flipH="1">
            <a:off x="2607820" y="3797262"/>
            <a:ext cx="581735" cy="1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/>
          <p:cNvCxnSpPr>
            <a:stCxn id="55" idx="1"/>
          </p:cNvCxnSpPr>
          <p:nvPr/>
        </p:nvCxnSpPr>
        <p:spPr>
          <a:xfrm flipH="1">
            <a:off x="1583668" y="3794938"/>
            <a:ext cx="517465" cy="2324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Grafik 37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503" y="3027073"/>
            <a:ext cx="569702" cy="466120"/>
          </a:xfrm>
          <a:prstGeom prst="rect">
            <a:avLst/>
          </a:prstGeom>
        </p:spPr>
      </p:pic>
      <p:pic>
        <p:nvPicPr>
          <p:cNvPr id="39" name="Picture 5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620" y="2676018"/>
            <a:ext cx="623282" cy="502541"/>
          </a:xfrm>
          <a:prstGeom prst="rect">
            <a:avLst/>
          </a:prstGeom>
        </p:spPr>
      </p:pic>
      <p:pic>
        <p:nvPicPr>
          <p:cNvPr id="40" name="Picture 2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480" y="3534152"/>
            <a:ext cx="288584" cy="486565"/>
          </a:xfrm>
          <a:prstGeom prst="rect">
            <a:avLst/>
          </a:prstGeom>
        </p:spPr>
      </p:pic>
      <p:grpSp>
        <p:nvGrpSpPr>
          <p:cNvPr id="54" name="Gruppieren 53"/>
          <p:cNvGrpSpPr/>
          <p:nvPr/>
        </p:nvGrpSpPr>
        <p:grpSpPr>
          <a:xfrm>
            <a:off x="2101133" y="3552382"/>
            <a:ext cx="684076" cy="486584"/>
            <a:chOff x="5796136" y="1798866"/>
            <a:chExt cx="684076" cy="486584"/>
          </a:xfrm>
        </p:grpSpPr>
        <p:sp>
          <p:nvSpPr>
            <p:cNvPr id="55" name="Rechteck 54"/>
            <p:cNvSpPr/>
            <p:nvPr/>
          </p:nvSpPr>
          <p:spPr>
            <a:xfrm>
              <a:off x="5796136" y="1840710"/>
              <a:ext cx="504056" cy="401423"/>
            </a:xfrm>
            <a:prstGeom prst="rect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Textfeld 64"/>
            <p:cNvSpPr txBox="1"/>
            <p:nvPr/>
          </p:nvSpPr>
          <p:spPr>
            <a:xfrm>
              <a:off x="5796136" y="1798866"/>
              <a:ext cx="4680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~</a:t>
              </a:r>
              <a:endParaRPr lang="en-US" dirty="0"/>
            </a:p>
          </p:txBody>
        </p:sp>
        <p:sp>
          <p:nvSpPr>
            <p:cNvPr id="66" name="Textfeld 65"/>
            <p:cNvSpPr txBox="1"/>
            <p:nvPr/>
          </p:nvSpPr>
          <p:spPr>
            <a:xfrm>
              <a:off x="6012160" y="1946896"/>
              <a:ext cx="4680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=</a:t>
              </a:r>
              <a:endParaRPr lang="en-US" dirty="0"/>
            </a:p>
          </p:txBody>
        </p:sp>
        <p:cxnSp>
          <p:nvCxnSpPr>
            <p:cNvPr id="67" name="Gerader Verbinder 66"/>
            <p:cNvCxnSpPr/>
            <p:nvPr/>
          </p:nvCxnSpPr>
          <p:spPr>
            <a:xfrm flipV="1">
              <a:off x="5796136" y="1840710"/>
              <a:ext cx="504056" cy="401423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uppieren 67"/>
          <p:cNvGrpSpPr/>
          <p:nvPr/>
        </p:nvGrpSpPr>
        <p:grpSpPr>
          <a:xfrm>
            <a:off x="2101133" y="1699288"/>
            <a:ext cx="684076" cy="486584"/>
            <a:chOff x="5796136" y="1798866"/>
            <a:chExt cx="684076" cy="486584"/>
          </a:xfrm>
        </p:grpSpPr>
        <p:sp>
          <p:nvSpPr>
            <p:cNvPr id="69" name="Rechteck 68"/>
            <p:cNvSpPr/>
            <p:nvPr/>
          </p:nvSpPr>
          <p:spPr>
            <a:xfrm>
              <a:off x="5796136" y="1840710"/>
              <a:ext cx="504056" cy="401423"/>
            </a:xfrm>
            <a:prstGeom prst="rect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Textfeld 70"/>
            <p:cNvSpPr txBox="1"/>
            <p:nvPr/>
          </p:nvSpPr>
          <p:spPr>
            <a:xfrm>
              <a:off x="5796136" y="1798866"/>
              <a:ext cx="4680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~</a:t>
              </a:r>
              <a:endParaRPr lang="en-US" dirty="0"/>
            </a:p>
          </p:txBody>
        </p:sp>
        <p:sp>
          <p:nvSpPr>
            <p:cNvPr id="72" name="Textfeld 71"/>
            <p:cNvSpPr txBox="1"/>
            <p:nvPr/>
          </p:nvSpPr>
          <p:spPr>
            <a:xfrm>
              <a:off x="6012160" y="1946896"/>
              <a:ext cx="4680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=</a:t>
              </a:r>
              <a:endParaRPr lang="en-US" dirty="0"/>
            </a:p>
          </p:txBody>
        </p:sp>
        <p:cxnSp>
          <p:nvCxnSpPr>
            <p:cNvPr id="73" name="Gerader Verbinder 72"/>
            <p:cNvCxnSpPr/>
            <p:nvPr/>
          </p:nvCxnSpPr>
          <p:spPr>
            <a:xfrm flipV="1">
              <a:off x="5796136" y="1840710"/>
              <a:ext cx="504056" cy="401423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uppieren 73"/>
          <p:cNvGrpSpPr/>
          <p:nvPr/>
        </p:nvGrpSpPr>
        <p:grpSpPr>
          <a:xfrm>
            <a:off x="2101133" y="2773549"/>
            <a:ext cx="684076" cy="486584"/>
            <a:chOff x="5796136" y="1798866"/>
            <a:chExt cx="684076" cy="486584"/>
          </a:xfrm>
        </p:grpSpPr>
        <p:sp>
          <p:nvSpPr>
            <p:cNvPr id="75" name="Rechteck 74"/>
            <p:cNvSpPr/>
            <p:nvPr/>
          </p:nvSpPr>
          <p:spPr>
            <a:xfrm>
              <a:off x="5796136" y="1840710"/>
              <a:ext cx="504056" cy="401423"/>
            </a:xfrm>
            <a:prstGeom prst="rect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Textfeld 75"/>
            <p:cNvSpPr txBox="1"/>
            <p:nvPr/>
          </p:nvSpPr>
          <p:spPr>
            <a:xfrm>
              <a:off x="5796136" y="1798866"/>
              <a:ext cx="4680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=</a:t>
              </a:r>
              <a:endParaRPr lang="en-US" dirty="0"/>
            </a:p>
          </p:txBody>
        </p:sp>
        <p:sp>
          <p:nvSpPr>
            <p:cNvPr id="77" name="Textfeld 76"/>
            <p:cNvSpPr txBox="1"/>
            <p:nvPr/>
          </p:nvSpPr>
          <p:spPr>
            <a:xfrm>
              <a:off x="6012160" y="1946896"/>
              <a:ext cx="4680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=</a:t>
              </a:r>
              <a:endParaRPr lang="en-US" dirty="0"/>
            </a:p>
          </p:txBody>
        </p:sp>
        <p:cxnSp>
          <p:nvCxnSpPr>
            <p:cNvPr id="78" name="Gerader Verbinder 77"/>
            <p:cNvCxnSpPr/>
            <p:nvPr/>
          </p:nvCxnSpPr>
          <p:spPr>
            <a:xfrm flipV="1">
              <a:off x="5796136" y="1840710"/>
              <a:ext cx="504056" cy="401423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9" name="Picture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788" y="1582205"/>
            <a:ext cx="718678" cy="657867"/>
          </a:xfrm>
          <a:prstGeom prst="rect">
            <a:avLst/>
          </a:prstGeom>
        </p:spPr>
      </p:pic>
      <p:pic>
        <p:nvPicPr>
          <p:cNvPr id="26" name="Grafik 2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237" y="4440646"/>
            <a:ext cx="259412" cy="494691"/>
          </a:xfrm>
          <a:prstGeom prst="rect">
            <a:avLst/>
          </a:prstGeom>
        </p:spPr>
      </p:pic>
      <p:pic>
        <p:nvPicPr>
          <p:cNvPr id="80" name="Picture 3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890739" y="2328216"/>
            <a:ext cx="163484" cy="345729"/>
          </a:xfrm>
          <a:prstGeom prst="rect">
            <a:avLst/>
          </a:prstGeom>
        </p:spPr>
      </p:pic>
      <p:grpSp>
        <p:nvGrpSpPr>
          <p:cNvPr id="81" name="Gruppieren 80"/>
          <p:cNvGrpSpPr/>
          <p:nvPr/>
        </p:nvGrpSpPr>
        <p:grpSpPr>
          <a:xfrm>
            <a:off x="3727748" y="3052673"/>
            <a:ext cx="684076" cy="486584"/>
            <a:chOff x="5796136" y="1798866"/>
            <a:chExt cx="684076" cy="486584"/>
          </a:xfrm>
        </p:grpSpPr>
        <p:sp>
          <p:nvSpPr>
            <p:cNvPr id="82" name="Rechteck 81"/>
            <p:cNvSpPr/>
            <p:nvPr/>
          </p:nvSpPr>
          <p:spPr>
            <a:xfrm>
              <a:off x="5796136" y="1840710"/>
              <a:ext cx="504056" cy="401423"/>
            </a:xfrm>
            <a:prstGeom prst="rect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Textfeld 82"/>
            <p:cNvSpPr txBox="1"/>
            <p:nvPr/>
          </p:nvSpPr>
          <p:spPr>
            <a:xfrm>
              <a:off x="5796136" y="1798866"/>
              <a:ext cx="4680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=</a:t>
              </a:r>
              <a:endParaRPr lang="en-US" dirty="0"/>
            </a:p>
          </p:txBody>
        </p:sp>
        <p:sp>
          <p:nvSpPr>
            <p:cNvPr id="84" name="Textfeld 83"/>
            <p:cNvSpPr txBox="1"/>
            <p:nvPr/>
          </p:nvSpPr>
          <p:spPr>
            <a:xfrm>
              <a:off x="6012160" y="1946896"/>
              <a:ext cx="4680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=</a:t>
              </a:r>
              <a:endParaRPr lang="en-US" dirty="0"/>
            </a:p>
          </p:txBody>
        </p:sp>
        <p:cxnSp>
          <p:nvCxnSpPr>
            <p:cNvPr id="85" name="Gerader Verbinder 84"/>
            <p:cNvCxnSpPr/>
            <p:nvPr/>
          </p:nvCxnSpPr>
          <p:spPr>
            <a:xfrm flipV="1">
              <a:off x="5796136" y="1840710"/>
              <a:ext cx="504056" cy="401423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6" name="Gerader Verbinder 85"/>
          <p:cNvCxnSpPr/>
          <p:nvPr/>
        </p:nvCxnSpPr>
        <p:spPr>
          <a:xfrm flipH="1">
            <a:off x="4231804" y="3292428"/>
            <a:ext cx="517465" cy="2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platzhalter 1"/>
          <p:cNvSpPr txBox="1">
            <a:spLocks/>
          </p:cNvSpPr>
          <p:nvPr/>
        </p:nvSpPr>
        <p:spPr>
          <a:xfrm>
            <a:off x="5940152" y="1144806"/>
            <a:ext cx="2772048" cy="166478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08109" tIns="108109" rIns="108109" bIns="108109">
            <a:normAutofit fontScale="85000" lnSpcReduction="10000"/>
          </a:bodyPr>
          <a:lstStyle>
            <a:lvl1pPr marL="0" indent="0" algn="l" defTabSz="792234" rtl="0" eaLnBrk="1" latinLnBrk="0" hangingPunct="1">
              <a:spcBef>
                <a:spcPts val="1560"/>
              </a:spcBef>
              <a:buFont typeface="Arial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2444" indent="-232444" algn="l" defTabSz="792234" rtl="0" eaLnBrk="1" latinLnBrk="0" hangingPunct="1">
              <a:spcBef>
                <a:spcPts val="693"/>
              </a:spcBef>
              <a:buClr>
                <a:schemeClr val="accent1"/>
              </a:buClr>
              <a:buFont typeface="Wingdings" pitchFamily="2" charset="2"/>
              <a:buChar char="n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4887" indent="-233820" algn="l" defTabSz="792234" rtl="0" eaLnBrk="1" latinLnBrk="0" hangingPunct="1">
              <a:spcBef>
                <a:spcPts val="520"/>
              </a:spcBef>
              <a:buClr>
                <a:srgbClr val="00549F"/>
              </a:buClr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7331" indent="-232444" algn="l" defTabSz="792234" rtl="0" eaLnBrk="1" latinLnBrk="0" hangingPunct="1">
              <a:spcBef>
                <a:spcPts val="260"/>
              </a:spcBef>
              <a:buClr>
                <a:schemeClr val="accent2"/>
              </a:buClr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97331" indent="0" algn="l" defTabSz="792234" rtl="0" eaLnBrk="1" latinLnBrk="0" hangingPunct="1">
              <a:spcBef>
                <a:spcPts val="26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78644" indent="-198059" algn="l" defTabSz="79223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74760" indent="-198059" algn="l" defTabSz="79223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0876" indent="-198059" algn="l" defTabSz="79223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66993" indent="-198059" algn="l" defTabSz="79223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b="1" dirty="0" smtClean="0"/>
              <a:t>Safe </a:t>
            </a:r>
            <a:r>
              <a:rPr lang="en-US" dirty="0" smtClean="0"/>
              <a:t>(Voltage &lt; 60V)</a:t>
            </a:r>
          </a:p>
          <a:p>
            <a:pPr lvl="1"/>
            <a:r>
              <a:rPr lang="en-US" b="1" dirty="0" smtClean="0"/>
              <a:t>Easy </a:t>
            </a:r>
            <a:r>
              <a:rPr lang="en-US" dirty="0" smtClean="0"/>
              <a:t>(Plug &amp; Play)</a:t>
            </a:r>
          </a:p>
          <a:p>
            <a:pPr lvl="1"/>
            <a:r>
              <a:rPr lang="en-US" b="1" dirty="0" smtClean="0"/>
              <a:t>Reliable </a:t>
            </a:r>
            <a:r>
              <a:rPr lang="en-US" dirty="0" smtClean="0"/>
              <a:t>(multiple energy storage devices possible)</a:t>
            </a:r>
          </a:p>
          <a:p>
            <a:pPr lvl="1"/>
            <a:r>
              <a:rPr lang="en-US" b="1" dirty="0" smtClean="0"/>
              <a:t>Open Source </a:t>
            </a:r>
            <a:r>
              <a:rPr lang="en-US" dirty="0" smtClean="0"/>
              <a:t>Hardware und Communication Protocol</a:t>
            </a:r>
          </a:p>
        </p:txBody>
      </p:sp>
      <p:grpSp>
        <p:nvGrpSpPr>
          <p:cNvPr id="88" name="Gruppieren 87"/>
          <p:cNvGrpSpPr/>
          <p:nvPr/>
        </p:nvGrpSpPr>
        <p:grpSpPr>
          <a:xfrm>
            <a:off x="3720929" y="3903363"/>
            <a:ext cx="684076" cy="486584"/>
            <a:chOff x="5796136" y="1798866"/>
            <a:chExt cx="684076" cy="486584"/>
          </a:xfrm>
        </p:grpSpPr>
        <p:sp>
          <p:nvSpPr>
            <p:cNvPr id="89" name="Rechteck 88"/>
            <p:cNvSpPr/>
            <p:nvPr/>
          </p:nvSpPr>
          <p:spPr>
            <a:xfrm>
              <a:off x="5796136" y="1840710"/>
              <a:ext cx="504056" cy="401423"/>
            </a:xfrm>
            <a:prstGeom prst="rect">
              <a:avLst/>
            </a:prstGeom>
            <a:ln w="19050">
              <a:prstDash val="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Textfeld 90"/>
            <p:cNvSpPr txBox="1"/>
            <p:nvPr/>
          </p:nvSpPr>
          <p:spPr>
            <a:xfrm>
              <a:off x="5796136" y="1798866"/>
              <a:ext cx="4680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=</a:t>
              </a:r>
              <a:endParaRPr lang="en-US" dirty="0"/>
            </a:p>
          </p:txBody>
        </p:sp>
        <p:sp>
          <p:nvSpPr>
            <p:cNvPr id="92" name="Textfeld 91"/>
            <p:cNvSpPr txBox="1"/>
            <p:nvPr/>
          </p:nvSpPr>
          <p:spPr>
            <a:xfrm>
              <a:off x="6012160" y="1946896"/>
              <a:ext cx="4680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=</a:t>
              </a:r>
              <a:endParaRPr lang="en-US" dirty="0"/>
            </a:p>
          </p:txBody>
        </p:sp>
        <p:cxnSp>
          <p:nvCxnSpPr>
            <p:cNvPr id="93" name="Gerader Verbinder 92"/>
            <p:cNvCxnSpPr/>
            <p:nvPr/>
          </p:nvCxnSpPr>
          <p:spPr>
            <a:xfrm flipV="1">
              <a:off x="5796136" y="1840710"/>
              <a:ext cx="504056" cy="401423"/>
            </a:xfrm>
            <a:prstGeom prst="line">
              <a:avLst/>
            </a:prstGeom>
            <a:ln w="19050"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4" name="Grafik 9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5925" y="3890936"/>
            <a:ext cx="259412" cy="494691"/>
          </a:xfrm>
          <a:prstGeom prst="rect">
            <a:avLst/>
          </a:prstGeom>
        </p:spPr>
      </p:pic>
      <p:sp>
        <p:nvSpPr>
          <p:cNvPr id="95" name="Textfeld 94"/>
          <p:cNvSpPr txBox="1"/>
          <p:nvPr/>
        </p:nvSpPr>
        <p:spPr>
          <a:xfrm>
            <a:off x="4216101" y="2330083"/>
            <a:ext cx="9236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DC load</a:t>
            </a:r>
            <a:endParaRPr lang="en-US" dirty="0"/>
          </a:p>
        </p:txBody>
      </p:sp>
      <p:cxnSp>
        <p:nvCxnSpPr>
          <p:cNvPr id="35" name="Gerader Verbinder 34"/>
          <p:cNvCxnSpPr/>
          <p:nvPr/>
        </p:nvCxnSpPr>
        <p:spPr>
          <a:xfrm>
            <a:off x="2606800" y="3108695"/>
            <a:ext cx="511895" cy="2839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Gerader Verbinder 96"/>
          <p:cNvCxnSpPr/>
          <p:nvPr/>
        </p:nvCxnSpPr>
        <p:spPr>
          <a:xfrm flipV="1">
            <a:off x="2605189" y="3869689"/>
            <a:ext cx="504626" cy="2704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Gerader Verbinder 97"/>
          <p:cNvCxnSpPr/>
          <p:nvPr/>
        </p:nvCxnSpPr>
        <p:spPr>
          <a:xfrm>
            <a:off x="2643583" y="4787981"/>
            <a:ext cx="466232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Gerader Verbinder 98"/>
          <p:cNvCxnSpPr/>
          <p:nvPr/>
        </p:nvCxnSpPr>
        <p:spPr>
          <a:xfrm>
            <a:off x="2622009" y="2016595"/>
            <a:ext cx="499796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Gerader Verbinder 99"/>
          <p:cNvCxnSpPr>
            <a:endCxn id="113" idx="2"/>
          </p:cNvCxnSpPr>
          <p:nvPr/>
        </p:nvCxnSpPr>
        <p:spPr>
          <a:xfrm flipV="1">
            <a:off x="3097709" y="1496512"/>
            <a:ext cx="27799" cy="329147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Gerader Verbinder 108"/>
          <p:cNvCxnSpPr/>
          <p:nvPr/>
        </p:nvCxnSpPr>
        <p:spPr>
          <a:xfrm>
            <a:off x="3101525" y="3356001"/>
            <a:ext cx="626223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Gerader Verbinder 110"/>
          <p:cNvCxnSpPr/>
          <p:nvPr/>
        </p:nvCxnSpPr>
        <p:spPr>
          <a:xfrm>
            <a:off x="3109757" y="2582823"/>
            <a:ext cx="626223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Gerader Verbinder 111"/>
          <p:cNvCxnSpPr/>
          <p:nvPr/>
        </p:nvCxnSpPr>
        <p:spPr>
          <a:xfrm>
            <a:off x="3094706" y="4248520"/>
            <a:ext cx="626223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feld 112"/>
          <p:cNvSpPr txBox="1"/>
          <p:nvPr/>
        </p:nvSpPr>
        <p:spPr>
          <a:xfrm>
            <a:off x="2593376" y="1136512"/>
            <a:ext cx="1064264" cy="360000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dirty="0" smtClean="0"/>
              <a:t>Gateway</a:t>
            </a:r>
            <a:endParaRPr lang="en-US" dirty="0"/>
          </a:p>
        </p:txBody>
      </p:sp>
      <p:cxnSp>
        <p:nvCxnSpPr>
          <p:cNvPr id="115" name="Gerader Verbinder 114"/>
          <p:cNvCxnSpPr/>
          <p:nvPr/>
        </p:nvCxnSpPr>
        <p:spPr>
          <a:xfrm>
            <a:off x="6221073" y="4293505"/>
            <a:ext cx="511895" cy="2839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Gerader Verbinder 115"/>
          <p:cNvCxnSpPr/>
          <p:nvPr/>
        </p:nvCxnSpPr>
        <p:spPr>
          <a:xfrm flipH="1">
            <a:off x="6221074" y="3600019"/>
            <a:ext cx="511895" cy="1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feld 122"/>
          <p:cNvSpPr txBox="1"/>
          <p:nvPr/>
        </p:nvSpPr>
        <p:spPr>
          <a:xfrm>
            <a:off x="6770033" y="4014980"/>
            <a:ext cx="16081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Communication</a:t>
            </a:r>
            <a:br>
              <a:rPr lang="en-US" dirty="0" smtClean="0"/>
            </a:br>
            <a:r>
              <a:rPr lang="en-US" dirty="0" smtClean="0"/>
              <a:t>bus (CAN)</a:t>
            </a:r>
            <a:endParaRPr lang="en-US" dirty="0"/>
          </a:p>
        </p:txBody>
      </p:sp>
      <p:sp>
        <p:nvSpPr>
          <p:cNvPr id="124" name="Textfeld 123"/>
          <p:cNvSpPr txBox="1"/>
          <p:nvPr/>
        </p:nvSpPr>
        <p:spPr>
          <a:xfrm>
            <a:off x="6780750" y="3430742"/>
            <a:ext cx="14029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DC </a:t>
            </a:r>
            <a:r>
              <a:rPr lang="en-US" dirty="0" err="1" smtClean="0"/>
              <a:t>nano</a:t>
            </a:r>
            <a:r>
              <a:rPr lang="en-US" dirty="0" smtClean="0"/>
              <a:t>-grid</a:t>
            </a:r>
            <a:endParaRPr lang="en-US" dirty="0"/>
          </a:p>
        </p:txBody>
      </p:sp>
      <p:pic>
        <p:nvPicPr>
          <p:cNvPr id="127" name="Grafik 126"/>
          <p:cNvPicPr>
            <a:picLocks noChangeAspect="1"/>
          </p:cNvPicPr>
          <p:nvPr/>
        </p:nvPicPr>
        <p:blipFill>
          <a:blip r:embed="rId9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776221" y="1230576"/>
            <a:ext cx="259741" cy="19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325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113" grpId="0" animBg="1"/>
      <p:bldP spid="1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smtClean="0"/>
              <a:t>Open Source Energy Mesh | 11/2016 | Martin Jäger</a:t>
            </a:r>
            <a:endParaRPr lang="de-DE" dirty="0"/>
          </a:p>
        </p:txBody>
      </p:sp>
      <p:cxnSp>
        <p:nvCxnSpPr>
          <p:cNvPr id="4" name="Gerader Verbinder 3"/>
          <p:cNvCxnSpPr>
            <a:stCxn id="16" idx="3"/>
            <a:endCxn id="36" idx="1"/>
          </p:cNvCxnSpPr>
          <p:nvPr/>
        </p:nvCxnSpPr>
        <p:spPr>
          <a:xfrm flipV="1">
            <a:off x="1877402" y="1737833"/>
            <a:ext cx="3273852" cy="3487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/>
          <p:cNvCxnSpPr/>
          <p:nvPr/>
        </p:nvCxnSpPr>
        <p:spPr>
          <a:xfrm flipV="1">
            <a:off x="2872420" y="1467171"/>
            <a:ext cx="0" cy="257937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6"/>
          <p:cNvCxnSpPr/>
          <p:nvPr/>
        </p:nvCxnSpPr>
        <p:spPr>
          <a:xfrm flipH="1">
            <a:off x="1738180" y="1790704"/>
            <a:ext cx="2617796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7"/>
          <p:cNvCxnSpPr/>
          <p:nvPr/>
        </p:nvCxnSpPr>
        <p:spPr>
          <a:xfrm flipV="1">
            <a:off x="4355976" y="1467172"/>
            <a:ext cx="0" cy="323532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feld 8"/>
          <p:cNvSpPr txBox="1"/>
          <p:nvPr/>
        </p:nvSpPr>
        <p:spPr>
          <a:xfrm>
            <a:off x="3808420" y="1196670"/>
            <a:ext cx="1008000" cy="288000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dirty="0" smtClean="0"/>
              <a:t>Device 2</a:t>
            </a:r>
            <a:endParaRPr lang="en-US" sz="1400" dirty="0"/>
          </a:p>
        </p:txBody>
      </p:sp>
      <p:cxnSp>
        <p:nvCxnSpPr>
          <p:cNvPr id="10" name="Gerader Verbinder 9"/>
          <p:cNvCxnSpPr/>
          <p:nvPr/>
        </p:nvCxnSpPr>
        <p:spPr>
          <a:xfrm>
            <a:off x="4355976" y="3238287"/>
            <a:ext cx="314066" cy="1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4670042" y="2986260"/>
            <a:ext cx="14278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Communication</a:t>
            </a:r>
            <a:br>
              <a:rPr lang="en-US" sz="1400" dirty="0" smtClean="0"/>
            </a:br>
            <a:r>
              <a:rPr lang="en-US" sz="1400" dirty="0" smtClean="0"/>
              <a:t>channel</a:t>
            </a:r>
            <a:endParaRPr lang="en-US" sz="1400" dirty="0"/>
          </a:p>
        </p:txBody>
      </p:sp>
      <p:sp>
        <p:nvSpPr>
          <p:cNvPr id="13" name="Textfeld 12"/>
          <p:cNvSpPr txBox="1"/>
          <p:nvPr/>
        </p:nvSpPr>
        <p:spPr>
          <a:xfrm>
            <a:off x="4688793" y="2317440"/>
            <a:ext cx="1409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Network link</a:t>
            </a:r>
            <a:endParaRPr lang="en-US" sz="1400" dirty="0"/>
          </a:p>
        </p:txBody>
      </p:sp>
      <p:pic>
        <p:nvPicPr>
          <p:cNvPr id="14" name="Grafik 13"/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5400000">
            <a:off x="6229985" y="1656295"/>
            <a:ext cx="259741" cy="191336"/>
          </a:xfrm>
          <a:prstGeom prst="rect">
            <a:avLst/>
          </a:prstGeom>
        </p:spPr>
      </p:pic>
      <p:sp>
        <p:nvSpPr>
          <p:cNvPr id="15" name="Textfeld 14"/>
          <p:cNvSpPr txBox="1"/>
          <p:nvPr/>
        </p:nvSpPr>
        <p:spPr>
          <a:xfrm>
            <a:off x="2368420" y="1196670"/>
            <a:ext cx="1008000" cy="288000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dirty="0" smtClean="0"/>
              <a:t>Device 1</a:t>
            </a:r>
            <a:endParaRPr lang="en-US" sz="1400" dirty="0"/>
          </a:p>
        </p:txBody>
      </p:sp>
      <p:sp>
        <p:nvSpPr>
          <p:cNvPr id="16" name="Textfeld 15"/>
          <p:cNvSpPr txBox="1"/>
          <p:nvPr/>
        </p:nvSpPr>
        <p:spPr>
          <a:xfrm>
            <a:off x="437402" y="1381320"/>
            <a:ext cx="1440000" cy="720000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dirty="0" smtClean="0"/>
              <a:t>Host computer </a:t>
            </a:r>
            <a:br>
              <a:rPr lang="en-US" sz="1400" dirty="0" smtClean="0"/>
            </a:br>
            <a:r>
              <a:rPr lang="en-US" sz="1400" dirty="0" smtClean="0"/>
              <a:t>or display</a:t>
            </a:r>
            <a:endParaRPr lang="en-US" sz="1400" dirty="0"/>
          </a:p>
        </p:txBody>
      </p:sp>
      <p:cxnSp>
        <p:nvCxnSpPr>
          <p:cNvPr id="22" name="Gerader Verbinder 21"/>
          <p:cNvCxnSpPr>
            <a:endCxn id="9" idx="2"/>
          </p:cNvCxnSpPr>
          <p:nvPr/>
        </p:nvCxnSpPr>
        <p:spPr>
          <a:xfrm flipV="1">
            <a:off x="4308698" y="1484670"/>
            <a:ext cx="3722" cy="240438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/>
          <p:cNvCxnSpPr/>
          <p:nvPr/>
        </p:nvCxnSpPr>
        <p:spPr>
          <a:xfrm flipV="1">
            <a:off x="3529301" y="1725108"/>
            <a:ext cx="0" cy="283453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feld 25"/>
          <p:cNvSpPr txBox="1"/>
          <p:nvPr/>
        </p:nvSpPr>
        <p:spPr>
          <a:xfrm>
            <a:off x="3019784" y="1985869"/>
            <a:ext cx="1008000" cy="288000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dirty="0" smtClean="0"/>
              <a:t>Device 3</a:t>
            </a:r>
            <a:endParaRPr lang="en-US" sz="1400" dirty="0"/>
          </a:p>
        </p:txBody>
      </p:sp>
      <p:sp>
        <p:nvSpPr>
          <p:cNvPr id="36" name="Textfeld 35"/>
          <p:cNvSpPr txBox="1"/>
          <p:nvPr/>
        </p:nvSpPr>
        <p:spPr>
          <a:xfrm>
            <a:off x="5151254" y="1593833"/>
            <a:ext cx="1008000" cy="288000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dirty="0" smtClean="0"/>
              <a:t>Gateway</a:t>
            </a:r>
            <a:endParaRPr lang="en-US" sz="1400" dirty="0"/>
          </a:p>
        </p:txBody>
      </p:sp>
      <p:cxnSp>
        <p:nvCxnSpPr>
          <p:cNvPr id="40" name="Gerader Verbinder 39"/>
          <p:cNvCxnSpPr>
            <a:stCxn id="47" idx="3"/>
            <a:endCxn id="46" idx="1"/>
          </p:cNvCxnSpPr>
          <p:nvPr/>
        </p:nvCxnSpPr>
        <p:spPr>
          <a:xfrm flipV="1">
            <a:off x="1877402" y="3001532"/>
            <a:ext cx="1002624" cy="2257"/>
          </a:xfrm>
          <a:prstGeom prst="line">
            <a:avLst/>
          </a:prstGeom>
          <a:ln w="19050">
            <a:solidFill>
              <a:schemeClr val="bg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41"/>
          <p:cNvCxnSpPr/>
          <p:nvPr/>
        </p:nvCxnSpPr>
        <p:spPr>
          <a:xfrm flipH="1">
            <a:off x="1692450" y="3053505"/>
            <a:ext cx="1354628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feld 45"/>
          <p:cNvSpPr txBox="1"/>
          <p:nvPr/>
        </p:nvSpPr>
        <p:spPr>
          <a:xfrm>
            <a:off x="2880026" y="2857532"/>
            <a:ext cx="1008000" cy="288000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dirty="0" smtClean="0"/>
              <a:t>Device</a:t>
            </a:r>
            <a:endParaRPr lang="en-US" sz="1400" dirty="0"/>
          </a:p>
        </p:txBody>
      </p:sp>
      <p:sp>
        <p:nvSpPr>
          <p:cNvPr id="47" name="Textfeld 46"/>
          <p:cNvSpPr txBox="1"/>
          <p:nvPr/>
        </p:nvSpPr>
        <p:spPr>
          <a:xfrm>
            <a:off x="437402" y="2643789"/>
            <a:ext cx="1440000" cy="720000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dirty="0" smtClean="0"/>
              <a:t>Host computer </a:t>
            </a:r>
            <a:br>
              <a:rPr lang="en-US" sz="1400" dirty="0" smtClean="0"/>
            </a:br>
            <a:r>
              <a:rPr lang="en-US" sz="1400" dirty="0" smtClean="0"/>
              <a:t>or display</a:t>
            </a:r>
            <a:endParaRPr lang="en-US" sz="1400" dirty="0"/>
          </a:p>
        </p:txBody>
      </p:sp>
      <p:cxnSp>
        <p:nvCxnSpPr>
          <p:cNvPr id="54" name="Gerader Verbinder 53"/>
          <p:cNvCxnSpPr/>
          <p:nvPr/>
        </p:nvCxnSpPr>
        <p:spPr>
          <a:xfrm flipH="1">
            <a:off x="4356472" y="2471329"/>
            <a:ext cx="314066" cy="1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feld 62"/>
          <p:cNvSpPr txBox="1"/>
          <p:nvPr/>
        </p:nvSpPr>
        <p:spPr>
          <a:xfrm>
            <a:off x="4688793" y="2645871"/>
            <a:ext cx="1409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Direct link</a:t>
            </a:r>
            <a:endParaRPr lang="en-US" sz="1400" dirty="0"/>
          </a:p>
        </p:txBody>
      </p:sp>
      <p:cxnSp>
        <p:nvCxnSpPr>
          <p:cNvPr id="64" name="Gerader Verbinder 63"/>
          <p:cNvCxnSpPr/>
          <p:nvPr/>
        </p:nvCxnSpPr>
        <p:spPr>
          <a:xfrm flipH="1">
            <a:off x="4356472" y="2799760"/>
            <a:ext cx="314066" cy="1"/>
          </a:xfrm>
          <a:prstGeom prst="line">
            <a:avLst/>
          </a:prstGeom>
          <a:ln w="19050">
            <a:solidFill>
              <a:schemeClr val="bg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5199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/>
      <p:bldP spid="15" grpId="0" animBg="1"/>
      <p:bldP spid="16" grpId="0" animBg="1"/>
      <p:bldP spid="26" grpId="0" animBg="1"/>
      <p:bldP spid="36" grpId="0" animBg="1"/>
      <p:bldP spid="46" grpId="0" animBg="1"/>
      <p:bldP spid="4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smtClean="0"/>
              <a:t>Open Source Energy Mesh | 11/2016 | Martin Jäger</a:t>
            </a:r>
            <a:endParaRPr lang="de-DE" dirty="0"/>
          </a:p>
        </p:txBody>
      </p:sp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314900"/>
              </p:ext>
            </p:extLst>
          </p:nvPr>
        </p:nvGraphicFramePr>
        <p:xfrm>
          <a:off x="1367644" y="1669368"/>
          <a:ext cx="5334000" cy="762000"/>
        </p:xfrm>
        <a:graphic>
          <a:graphicData uri="http://schemas.openxmlformats.org/drawingml/2006/table">
            <a:tbl>
              <a:tblPr/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8100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Network Layer (3)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Transport Layer (4)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ThingSet Protocol</a:t>
                      </a:r>
                      <a:b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(Layer 5-7)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Network Header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Source Address/ID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Destination Address/ID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Transport Header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Payload</a:t>
                      </a:r>
                      <a:b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Payload</a:t>
                      </a:r>
                      <a:b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byte 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2972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Battery-dominated low voltage DC grid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 smtClean="0"/>
              <a:t>33C3 | 30/12/2016 | Martin Jäger</a:t>
            </a:r>
            <a:endParaRPr lang="en-US" dirty="0"/>
          </a:p>
        </p:txBody>
      </p:sp>
      <p:sp>
        <p:nvSpPr>
          <p:cNvPr id="7" name="Textfeld 6"/>
          <p:cNvSpPr txBox="1"/>
          <p:nvPr/>
        </p:nvSpPr>
        <p:spPr>
          <a:xfrm>
            <a:off x="984187" y="2745535"/>
            <a:ext cx="720000" cy="36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dirty="0" smtClean="0"/>
              <a:t>Solar</a:t>
            </a:r>
            <a:endParaRPr lang="en-US" dirty="0"/>
          </a:p>
        </p:txBody>
      </p:sp>
      <p:sp>
        <p:nvSpPr>
          <p:cNvPr id="8" name="Textfeld 7"/>
          <p:cNvSpPr txBox="1"/>
          <p:nvPr/>
        </p:nvSpPr>
        <p:spPr>
          <a:xfrm>
            <a:off x="1396102" y="4433352"/>
            <a:ext cx="1368000" cy="36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dirty="0" smtClean="0"/>
              <a:t>Main battery</a:t>
            </a:r>
            <a:endParaRPr lang="en-US" dirty="0"/>
          </a:p>
        </p:txBody>
      </p:sp>
      <p:cxnSp>
        <p:nvCxnSpPr>
          <p:cNvPr id="13" name="Gerader Verbinder 12"/>
          <p:cNvCxnSpPr/>
          <p:nvPr/>
        </p:nvCxnSpPr>
        <p:spPr>
          <a:xfrm flipH="1">
            <a:off x="934988" y="1844628"/>
            <a:ext cx="1237942" cy="1"/>
          </a:xfrm>
          <a:prstGeom prst="line">
            <a:avLst/>
          </a:prstGeom>
          <a:ln w="19050">
            <a:solidFill>
              <a:srgbClr val="F6A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feld 13"/>
          <p:cNvSpPr txBox="1"/>
          <p:nvPr/>
        </p:nvSpPr>
        <p:spPr>
          <a:xfrm>
            <a:off x="929138" y="1411136"/>
            <a:ext cx="8675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AC grid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230 V</a:t>
            </a:r>
            <a:endParaRPr lang="en-US" dirty="0"/>
          </a:p>
        </p:txBody>
      </p:sp>
      <p:cxnSp>
        <p:nvCxnSpPr>
          <p:cNvPr id="17" name="Gerader Verbinder 16"/>
          <p:cNvCxnSpPr>
            <a:stCxn id="11" idx="3"/>
          </p:cNvCxnSpPr>
          <p:nvPr/>
        </p:nvCxnSpPr>
        <p:spPr>
          <a:xfrm flipV="1">
            <a:off x="2728339" y="1844628"/>
            <a:ext cx="606422" cy="1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/>
          <p:cNvCxnSpPr/>
          <p:nvPr/>
        </p:nvCxnSpPr>
        <p:spPr>
          <a:xfrm flipH="1" flipV="1">
            <a:off x="2728339" y="2925535"/>
            <a:ext cx="606422" cy="997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uppieren 28"/>
          <p:cNvGrpSpPr/>
          <p:nvPr/>
        </p:nvGrpSpPr>
        <p:grpSpPr>
          <a:xfrm>
            <a:off x="2008259" y="1592754"/>
            <a:ext cx="720080" cy="503750"/>
            <a:chOff x="2015716" y="1741682"/>
            <a:chExt cx="720000" cy="718538"/>
          </a:xfrm>
        </p:grpSpPr>
        <p:sp>
          <p:nvSpPr>
            <p:cNvPr id="11" name="Textfeld 10"/>
            <p:cNvSpPr txBox="1"/>
            <p:nvPr/>
          </p:nvSpPr>
          <p:spPr>
            <a:xfrm>
              <a:off x="2015716" y="1741682"/>
              <a:ext cx="720000" cy="718538"/>
            </a:xfrm>
            <a:prstGeom prst="rect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r>
                <a:rPr lang="en-US" dirty="0" smtClean="0"/>
                <a:t>AC</a:t>
              </a:r>
            </a:p>
            <a:p>
              <a:pPr algn="r"/>
              <a:r>
                <a:rPr lang="en-US" dirty="0" smtClean="0"/>
                <a:t>DC</a:t>
              </a:r>
              <a:endParaRPr lang="en-US" dirty="0"/>
            </a:p>
          </p:txBody>
        </p:sp>
        <p:cxnSp>
          <p:nvCxnSpPr>
            <p:cNvPr id="23" name="Gerader Verbinder 22"/>
            <p:cNvCxnSpPr/>
            <p:nvPr/>
          </p:nvCxnSpPr>
          <p:spPr>
            <a:xfrm flipV="1">
              <a:off x="2015716" y="1741682"/>
              <a:ext cx="720000" cy="718538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uppieren 29"/>
          <p:cNvGrpSpPr/>
          <p:nvPr/>
        </p:nvGrpSpPr>
        <p:grpSpPr>
          <a:xfrm>
            <a:off x="2008259" y="2673660"/>
            <a:ext cx="720080" cy="503750"/>
            <a:chOff x="2015716" y="1741682"/>
            <a:chExt cx="720000" cy="718538"/>
          </a:xfrm>
        </p:grpSpPr>
        <p:sp>
          <p:nvSpPr>
            <p:cNvPr id="31" name="Textfeld 30"/>
            <p:cNvSpPr txBox="1"/>
            <p:nvPr/>
          </p:nvSpPr>
          <p:spPr>
            <a:xfrm>
              <a:off x="2015716" y="1741682"/>
              <a:ext cx="720000" cy="718538"/>
            </a:xfrm>
            <a:prstGeom prst="rect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r>
                <a:rPr lang="en-US" dirty="0" smtClean="0"/>
                <a:t>DC</a:t>
              </a:r>
            </a:p>
            <a:p>
              <a:pPr algn="r"/>
              <a:r>
                <a:rPr lang="en-US" dirty="0" smtClean="0"/>
                <a:t>DC</a:t>
              </a:r>
              <a:endParaRPr lang="en-US" dirty="0"/>
            </a:p>
          </p:txBody>
        </p:sp>
        <p:cxnSp>
          <p:nvCxnSpPr>
            <p:cNvPr id="32" name="Gerader Verbinder 31"/>
            <p:cNvCxnSpPr/>
            <p:nvPr/>
          </p:nvCxnSpPr>
          <p:spPr>
            <a:xfrm flipV="1">
              <a:off x="2015716" y="1741682"/>
              <a:ext cx="720000" cy="718538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6" name="Gerader Verbinder 35"/>
          <p:cNvCxnSpPr>
            <a:endCxn id="8" idx="3"/>
          </p:cNvCxnSpPr>
          <p:nvPr/>
        </p:nvCxnSpPr>
        <p:spPr>
          <a:xfrm flipH="1" flipV="1">
            <a:off x="2764102" y="4613352"/>
            <a:ext cx="545972" cy="6746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feld 42"/>
          <p:cNvSpPr txBox="1"/>
          <p:nvPr/>
        </p:nvSpPr>
        <p:spPr>
          <a:xfrm>
            <a:off x="3864904" y="2232001"/>
            <a:ext cx="864056" cy="36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dirty="0" smtClean="0"/>
              <a:t>Load 1</a:t>
            </a:r>
            <a:endParaRPr lang="en-US" dirty="0"/>
          </a:p>
        </p:txBody>
      </p:sp>
      <p:cxnSp>
        <p:nvCxnSpPr>
          <p:cNvPr id="44" name="Gerader Verbinder 43"/>
          <p:cNvCxnSpPr>
            <a:stCxn id="43" idx="1"/>
          </p:cNvCxnSpPr>
          <p:nvPr/>
        </p:nvCxnSpPr>
        <p:spPr>
          <a:xfrm flipH="1" flipV="1">
            <a:off x="3327747" y="2403420"/>
            <a:ext cx="537157" cy="8581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/>
          <p:cNvCxnSpPr/>
          <p:nvPr/>
        </p:nvCxnSpPr>
        <p:spPr>
          <a:xfrm flipV="1">
            <a:off x="3310699" y="1840710"/>
            <a:ext cx="24062" cy="2779388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feld 60"/>
          <p:cNvSpPr txBox="1"/>
          <p:nvPr/>
        </p:nvSpPr>
        <p:spPr>
          <a:xfrm>
            <a:off x="3864904" y="3034962"/>
            <a:ext cx="864056" cy="36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dirty="0" smtClean="0"/>
              <a:t>Load n</a:t>
            </a:r>
            <a:endParaRPr lang="en-US" dirty="0"/>
          </a:p>
        </p:txBody>
      </p:sp>
      <p:cxnSp>
        <p:nvCxnSpPr>
          <p:cNvPr id="62" name="Gerader Verbinder 61"/>
          <p:cNvCxnSpPr/>
          <p:nvPr/>
        </p:nvCxnSpPr>
        <p:spPr>
          <a:xfrm flipH="1">
            <a:off x="3327396" y="3189537"/>
            <a:ext cx="531374" cy="0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feld 62"/>
          <p:cNvSpPr txBox="1"/>
          <p:nvPr/>
        </p:nvSpPr>
        <p:spPr>
          <a:xfrm>
            <a:off x="3881358" y="2555849"/>
            <a:ext cx="743836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90" name="Textfeld 89"/>
          <p:cNvSpPr txBox="1"/>
          <p:nvPr/>
        </p:nvSpPr>
        <p:spPr>
          <a:xfrm>
            <a:off x="2872061" y="1488065"/>
            <a:ext cx="11023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LVDC bus</a:t>
            </a:r>
            <a:endParaRPr lang="en-US" dirty="0"/>
          </a:p>
        </p:txBody>
      </p:sp>
      <p:cxnSp>
        <p:nvCxnSpPr>
          <p:cNvPr id="45" name="Gerader Verbinder 44"/>
          <p:cNvCxnSpPr>
            <a:stCxn id="31" idx="1"/>
            <a:endCxn id="7" idx="3"/>
          </p:cNvCxnSpPr>
          <p:nvPr/>
        </p:nvCxnSpPr>
        <p:spPr>
          <a:xfrm flipH="1">
            <a:off x="1704187" y="2925535"/>
            <a:ext cx="30407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feld 69"/>
          <p:cNvSpPr txBox="1"/>
          <p:nvPr/>
        </p:nvSpPr>
        <p:spPr>
          <a:xfrm>
            <a:off x="5016563" y="3871275"/>
            <a:ext cx="1654186" cy="360000"/>
          </a:xfrm>
          <a:prstGeom prst="rect">
            <a:avLst/>
          </a:prstGeom>
          <a:ln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dirty="0" smtClean="0"/>
              <a:t>Second battery</a:t>
            </a:r>
            <a:endParaRPr lang="en-US" dirty="0"/>
          </a:p>
        </p:txBody>
      </p:sp>
      <p:grpSp>
        <p:nvGrpSpPr>
          <p:cNvPr id="56" name="Gruppieren 55"/>
          <p:cNvGrpSpPr/>
          <p:nvPr/>
        </p:nvGrpSpPr>
        <p:grpSpPr>
          <a:xfrm>
            <a:off x="3856859" y="3799400"/>
            <a:ext cx="720080" cy="503750"/>
            <a:chOff x="2015716" y="1741682"/>
            <a:chExt cx="720000" cy="718538"/>
          </a:xfrm>
        </p:grpSpPr>
        <p:sp>
          <p:nvSpPr>
            <p:cNvPr id="57" name="Textfeld 56"/>
            <p:cNvSpPr txBox="1"/>
            <p:nvPr/>
          </p:nvSpPr>
          <p:spPr>
            <a:xfrm>
              <a:off x="2015716" y="1741682"/>
              <a:ext cx="720000" cy="718538"/>
            </a:xfrm>
            <a:prstGeom prst="rect">
              <a:avLst/>
            </a:prstGeom>
            <a:ln w="19050"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r>
                <a:rPr lang="en-US" dirty="0" smtClean="0"/>
                <a:t>DC</a:t>
              </a:r>
            </a:p>
            <a:p>
              <a:pPr algn="r"/>
              <a:r>
                <a:rPr lang="en-US" dirty="0" smtClean="0"/>
                <a:t>DC</a:t>
              </a:r>
              <a:endParaRPr lang="en-US" dirty="0"/>
            </a:p>
          </p:txBody>
        </p:sp>
        <p:cxnSp>
          <p:nvCxnSpPr>
            <p:cNvPr id="58" name="Gerader Verbinder 57"/>
            <p:cNvCxnSpPr/>
            <p:nvPr/>
          </p:nvCxnSpPr>
          <p:spPr>
            <a:xfrm flipV="1">
              <a:off x="2015716" y="1741682"/>
              <a:ext cx="720000" cy="718538"/>
            </a:xfrm>
            <a:prstGeom prst="line">
              <a:avLst/>
            </a:prstGeom>
            <a:ln w="19050">
              <a:solidFill>
                <a:schemeClr val="accent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9" name="Gerader Verbinder 58"/>
          <p:cNvCxnSpPr/>
          <p:nvPr/>
        </p:nvCxnSpPr>
        <p:spPr>
          <a:xfrm flipH="1">
            <a:off x="3310074" y="4046641"/>
            <a:ext cx="531374" cy="0"/>
          </a:xfrm>
          <a:prstGeom prst="line">
            <a:avLst/>
          </a:prstGeom>
          <a:ln w="19050">
            <a:solidFill>
              <a:schemeClr val="accent5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r Verbinder 59"/>
          <p:cNvCxnSpPr>
            <a:stCxn id="70" idx="1"/>
            <a:endCxn id="57" idx="3"/>
          </p:cNvCxnSpPr>
          <p:nvPr/>
        </p:nvCxnSpPr>
        <p:spPr>
          <a:xfrm flipH="1">
            <a:off x="4576939" y="4051275"/>
            <a:ext cx="439624" cy="0"/>
          </a:xfrm>
          <a:prstGeom prst="line">
            <a:avLst/>
          </a:prstGeom>
          <a:ln w="19050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feld 41"/>
          <p:cNvSpPr txBox="1"/>
          <p:nvPr/>
        </p:nvSpPr>
        <p:spPr>
          <a:xfrm>
            <a:off x="984187" y="3523892"/>
            <a:ext cx="720000" cy="36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dirty="0" smtClean="0"/>
              <a:t>Wind</a:t>
            </a:r>
            <a:endParaRPr lang="en-US" dirty="0"/>
          </a:p>
        </p:txBody>
      </p:sp>
      <p:cxnSp>
        <p:nvCxnSpPr>
          <p:cNvPr id="46" name="Gerader Verbinder 45"/>
          <p:cNvCxnSpPr/>
          <p:nvPr/>
        </p:nvCxnSpPr>
        <p:spPr>
          <a:xfrm flipH="1">
            <a:off x="2728339" y="3703892"/>
            <a:ext cx="581735" cy="1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uppieren 46"/>
          <p:cNvGrpSpPr/>
          <p:nvPr/>
        </p:nvGrpSpPr>
        <p:grpSpPr>
          <a:xfrm>
            <a:off x="2008259" y="3452017"/>
            <a:ext cx="720080" cy="503750"/>
            <a:chOff x="2015716" y="1741682"/>
            <a:chExt cx="720000" cy="718538"/>
          </a:xfrm>
        </p:grpSpPr>
        <p:sp>
          <p:nvSpPr>
            <p:cNvPr id="48" name="Textfeld 47"/>
            <p:cNvSpPr txBox="1"/>
            <p:nvPr/>
          </p:nvSpPr>
          <p:spPr>
            <a:xfrm>
              <a:off x="2015716" y="1741682"/>
              <a:ext cx="720000" cy="718538"/>
            </a:xfrm>
            <a:prstGeom prst="rect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r>
                <a:rPr lang="en-US" dirty="0" smtClean="0"/>
                <a:t>AC</a:t>
              </a:r>
            </a:p>
            <a:p>
              <a:pPr algn="r"/>
              <a:r>
                <a:rPr lang="en-US" dirty="0" smtClean="0"/>
                <a:t>DC</a:t>
              </a:r>
              <a:endParaRPr lang="en-US" dirty="0"/>
            </a:p>
          </p:txBody>
        </p:sp>
        <p:cxnSp>
          <p:nvCxnSpPr>
            <p:cNvPr id="49" name="Gerader Verbinder 48"/>
            <p:cNvCxnSpPr/>
            <p:nvPr/>
          </p:nvCxnSpPr>
          <p:spPr>
            <a:xfrm flipV="1">
              <a:off x="2015716" y="1741682"/>
              <a:ext cx="720000" cy="718538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1" name="Gerader Verbinder 50"/>
          <p:cNvCxnSpPr>
            <a:stCxn id="48" idx="1"/>
            <a:endCxn id="42" idx="3"/>
          </p:cNvCxnSpPr>
          <p:nvPr/>
        </p:nvCxnSpPr>
        <p:spPr>
          <a:xfrm flipH="1">
            <a:off x="1704187" y="3703892"/>
            <a:ext cx="30407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platzhalter 1"/>
          <p:cNvSpPr txBox="1">
            <a:spLocks/>
          </p:cNvSpPr>
          <p:nvPr/>
        </p:nvSpPr>
        <p:spPr>
          <a:xfrm>
            <a:off x="5436200" y="1523076"/>
            <a:ext cx="3276000" cy="12544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0" indent="0" algn="l" defTabSz="792234" rtl="0" eaLnBrk="1" latinLnBrk="0" hangingPunct="1">
              <a:spcBef>
                <a:spcPts val="1560"/>
              </a:spcBef>
              <a:buFont typeface="Arial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2444" indent="-232444" algn="l" defTabSz="792234" rtl="0" eaLnBrk="1" latinLnBrk="0" hangingPunct="1">
              <a:spcBef>
                <a:spcPts val="693"/>
              </a:spcBef>
              <a:buClr>
                <a:schemeClr val="accent1"/>
              </a:buClr>
              <a:buFont typeface="Wingdings" pitchFamily="2" charset="2"/>
              <a:buChar char="n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4887" indent="-233820" algn="l" defTabSz="792234" rtl="0" eaLnBrk="1" latinLnBrk="0" hangingPunct="1">
              <a:spcBef>
                <a:spcPts val="520"/>
              </a:spcBef>
              <a:buClr>
                <a:srgbClr val="00549F"/>
              </a:buClr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7331" indent="-232444" algn="l" defTabSz="792234" rtl="0" eaLnBrk="1" latinLnBrk="0" hangingPunct="1">
              <a:spcBef>
                <a:spcPts val="260"/>
              </a:spcBef>
              <a:buClr>
                <a:schemeClr val="accent2"/>
              </a:buClr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97331" indent="0" algn="l" defTabSz="792234" rtl="0" eaLnBrk="1" latinLnBrk="0" hangingPunct="1">
              <a:spcBef>
                <a:spcPts val="26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78644" indent="-198059" algn="l" defTabSz="79223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74760" indent="-198059" algn="l" defTabSz="79223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0876" indent="-198059" algn="l" defTabSz="79223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66993" indent="-198059" algn="l" defTabSz="79223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Battery defines bus voltage</a:t>
            </a:r>
          </a:p>
          <a:p>
            <a:pPr lvl="1"/>
            <a:r>
              <a:rPr lang="en-US" dirty="0" smtClean="0"/>
              <a:t>Voltage limits (charge profiles) need to be communicated to all energy sources</a:t>
            </a:r>
          </a:p>
        </p:txBody>
      </p:sp>
    </p:spTree>
    <p:extLst>
      <p:ext uri="{BB962C8B-B14F-4D97-AF65-F5344CB8AC3E}">
        <p14:creationId xmlns:p14="http://schemas.microsoft.com/office/powerpoint/2010/main" val="3588064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 voltage DC grid with bus signaling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 smtClean="0"/>
              <a:t>33C3 | 30/12/2016 | Martin Jäger</a:t>
            </a:r>
            <a:endParaRPr lang="en-US" dirty="0"/>
          </a:p>
        </p:txBody>
      </p:sp>
      <p:sp>
        <p:nvSpPr>
          <p:cNvPr id="7" name="Textfeld 6"/>
          <p:cNvSpPr txBox="1"/>
          <p:nvPr/>
        </p:nvSpPr>
        <p:spPr>
          <a:xfrm>
            <a:off x="984187" y="2745535"/>
            <a:ext cx="720000" cy="36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dirty="0" smtClean="0"/>
              <a:t>Solar</a:t>
            </a:r>
            <a:endParaRPr lang="en-US" dirty="0"/>
          </a:p>
        </p:txBody>
      </p:sp>
      <p:cxnSp>
        <p:nvCxnSpPr>
          <p:cNvPr id="13" name="Gerader Verbinder 12"/>
          <p:cNvCxnSpPr/>
          <p:nvPr/>
        </p:nvCxnSpPr>
        <p:spPr>
          <a:xfrm flipH="1">
            <a:off x="934988" y="1844628"/>
            <a:ext cx="1237942" cy="1"/>
          </a:xfrm>
          <a:prstGeom prst="line">
            <a:avLst/>
          </a:prstGeom>
          <a:ln w="19050">
            <a:solidFill>
              <a:srgbClr val="F6A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feld 13"/>
          <p:cNvSpPr txBox="1"/>
          <p:nvPr/>
        </p:nvSpPr>
        <p:spPr>
          <a:xfrm>
            <a:off x="929138" y="1411136"/>
            <a:ext cx="8675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AC grid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230 V</a:t>
            </a:r>
            <a:endParaRPr lang="en-US" dirty="0"/>
          </a:p>
        </p:txBody>
      </p:sp>
      <p:cxnSp>
        <p:nvCxnSpPr>
          <p:cNvPr id="17" name="Gerader Verbinder 16"/>
          <p:cNvCxnSpPr>
            <a:stCxn id="11" idx="3"/>
          </p:cNvCxnSpPr>
          <p:nvPr/>
        </p:nvCxnSpPr>
        <p:spPr>
          <a:xfrm flipV="1">
            <a:off x="2728339" y="1844628"/>
            <a:ext cx="606422" cy="1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/>
          <p:cNvCxnSpPr/>
          <p:nvPr/>
        </p:nvCxnSpPr>
        <p:spPr>
          <a:xfrm flipH="1" flipV="1">
            <a:off x="2728339" y="2925535"/>
            <a:ext cx="606422" cy="997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uppieren 28"/>
          <p:cNvGrpSpPr/>
          <p:nvPr/>
        </p:nvGrpSpPr>
        <p:grpSpPr>
          <a:xfrm>
            <a:off x="2008259" y="1592754"/>
            <a:ext cx="720080" cy="503750"/>
            <a:chOff x="2015716" y="1741682"/>
            <a:chExt cx="720000" cy="718538"/>
          </a:xfrm>
        </p:grpSpPr>
        <p:sp>
          <p:nvSpPr>
            <p:cNvPr id="11" name="Textfeld 10"/>
            <p:cNvSpPr txBox="1"/>
            <p:nvPr/>
          </p:nvSpPr>
          <p:spPr>
            <a:xfrm>
              <a:off x="2015716" y="1741682"/>
              <a:ext cx="720000" cy="718538"/>
            </a:xfrm>
            <a:prstGeom prst="rect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r>
                <a:rPr lang="en-US" dirty="0" smtClean="0"/>
                <a:t>AC</a:t>
              </a:r>
            </a:p>
            <a:p>
              <a:pPr algn="r"/>
              <a:r>
                <a:rPr lang="en-US" dirty="0" smtClean="0"/>
                <a:t>DC</a:t>
              </a:r>
              <a:endParaRPr lang="en-US" dirty="0"/>
            </a:p>
          </p:txBody>
        </p:sp>
        <p:cxnSp>
          <p:nvCxnSpPr>
            <p:cNvPr id="23" name="Gerader Verbinder 22"/>
            <p:cNvCxnSpPr/>
            <p:nvPr/>
          </p:nvCxnSpPr>
          <p:spPr>
            <a:xfrm flipV="1">
              <a:off x="2015716" y="1741682"/>
              <a:ext cx="720000" cy="718538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uppieren 29"/>
          <p:cNvGrpSpPr/>
          <p:nvPr/>
        </p:nvGrpSpPr>
        <p:grpSpPr>
          <a:xfrm>
            <a:off x="2008259" y="2673660"/>
            <a:ext cx="720080" cy="503750"/>
            <a:chOff x="2015716" y="1741682"/>
            <a:chExt cx="720000" cy="718538"/>
          </a:xfrm>
        </p:grpSpPr>
        <p:sp>
          <p:nvSpPr>
            <p:cNvPr id="31" name="Textfeld 30"/>
            <p:cNvSpPr txBox="1"/>
            <p:nvPr/>
          </p:nvSpPr>
          <p:spPr>
            <a:xfrm>
              <a:off x="2015716" y="1741682"/>
              <a:ext cx="720000" cy="718538"/>
            </a:xfrm>
            <a:prstGeom prst="rect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r>
                <a:rPr lang="en-US" dirty="0" smtClean="0"/>
                <a:t>DC</a:t>
              </a:r>
            </a:p>
            <a:p>
              <a:pPr algn="r"/>
              <a:r>
                <a:rPr lang="en-US" dirty="0" smtClean="0"/>
                <a:t>DC</a:t>
              </a:r>
              <a:endParaRPr lang="en-US" dirty="0"/>
            </a:p>
          </p:txBody>
        </p:sp>
        <p:cxnSp>
          <p:nvCxnSpPr>
            <p:cNvPr id="32" name="Gerader Verbinder 31"/>
            <p:cNvCxnSpPr/>
            <p:nvPr/>
          </p:nvCxnSpPr>
          <p:spPr>
            <a:xfrm flipV="1">
              <a:off x="2015716" y="1741682"/>
              <a:ext cx="720000" cy="718538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6" name="Gerader Verbinder 35"/>
          <p:cNvCxnSpPr/>
          <p:nvPr/>
        </p:nvCxnSpPr>
        <p:spPr>
          <a:xfrm flipH="1">
            <a:off x="2555776" y="4620098"/>
            <a:ext cx="754298" cy="0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feld 42"/>
          <p:cNvSpPr txBox="1"/>
          <p:nvPr/>
        </p:nvSpPr>
        <p:spPr>
          <a:xfrm>
            <a:off x="3864904" y="2232001"/>
            <a:ext cx="864056" cy="36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dirty="0" smtClean="0"/>
              <a:t>Load 1</a:t>
            </a:r>
            <a:endParaRPr lang="en-US" dirty="0"/>
          </a:p>
        </p:txBody>
      </p:sp>
      <p:cxnSp>
        <p:nvCxnSpPr>
          <p:cNvPr id="44" name="Gerader Verbinder 43"/>
          <p:cNvCxnSpPr>
            <a:stCxn id="43" idx="1"/>
          </p:cNvCxnSpPr>
          <p:nvPr/>
        </p:nvCxnSpPr>
        <p:spPr>
          <a:xfrm flipH="1" flipV="1">
            <a:off x="3327747" y="2403420"/>
            <a:ext cx="537157" cy="8581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/>
          <p:cNvCxnSpPr/>
          <p:nvPr/>
        </p:nvCxnSpPr>
        <p:spPr>
          <a:xfrm flipV="1">
            <a:off x="3310699" y="1840710"/>
            <a:ext cx="24062" cy="2779388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feld 60"/>
          <p:cNvSpPr txBox="1"/>
          <p:nvPr/>
        </p:nvSpPr>
        <p:spPr>
          <a:xfrm>
            <a:off x="3864904" y="3034962"/>
            <a:ext cx="864056" cy="36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dirty="0" smtClean="0"/>
              <a:t>Load n</a:t>
            </a:r>
            <a:endParaRPr lang="en-US" dirty="0"/>
          </a:p>
        </p:txBody>
      </p:sp>
      <p:cxnSp>
        <p:nvCxnSpPr>
          <p:cNvPr id="62" name="Gerader Verbinder 61"/>
          <p:cNvCxnSpPr/>
          <p:nvPr/>
        </p:nvCxnSpPr>
        <p:spPr>
          <a:xfrm flipH="1">
            <a:off x="3327396" y="3189537"/>
            <a:ext cx="531374" cy="0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feld 62"/>
          <p:cNvSpPr txBox="1"/>
          <p:nvPr/>
        </p:nvSpPr>
        <p:spPr>
          <a:xfrm>
            <a:off x="3881358" y="2555849"/>
            <a:ext cx="743836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90" name="Textfeld 89"/>
          <p:cNvSpPr txBox="1"/>
          <p:nvPr/>
        </p:nvSpPr>
        <p:spPr>
          <a:xfrm>
            <a:off x="2872061" y="1488065"/>
            <a:ext cx="11023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LVDC bus</a:t>
            </a:r>
            <a:endParaRPr lang="en-US" dirty="0"/>
          </a:p>
        </p:txBody>
      </p:sp>
      <p:cxnSp>
        <p:nvCxnSpPr>
          <p:cNvPr id="45" name="Gerader Verbinder 44"/>
          <p:cNvCxnSpPr>
            <a:stCxn id="31" idx="1"/>
            <a:endCxn id="7" idx="3"/>
          </p:cNvCxnSpPr>
          <p:nvPr/>
        </p:nvCxnSpPr>
        <p:spPr>
          <a:xfrm flipH="1">
            <a:off x="1704187" y="2925535"/>
            <a:ext cx="30407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feld 69"/>
          <p:cNvSpPr txBox="1"/>
          <p:nvPr/>
        </p:nvSpPr>
        <p:spPr>
          <a:xfrm>
            <a:off x="5016562" y="3871275"/>
            <a:ext cx="2795797" cy="360000"/>
          </a:xfrm>
          <a:prstGeom prst="rect">
            <a:avLst/>
          </a:prstGeom>
          <a:ln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dirty="0" smtClean="0"/>
              <a:t>Additional energy storage</a:t>
            </a:r>
            <a:endParaRPr lang="en-US" dirty="0"/>
          </a:p>
        </p:txBody>
      </p:sp>
      <p:grpSp>
        <p:nvGrpSpPr>
          <p:cNvPr id="56" name="Gruppieren 55"/>
          <p:cNvGrpSpPr/>
          <p:nvPr/>
        </p:nvGrpSpPr>
        <p:grpSpPr>
          <a:xfrm>
            <a:off x="3856859" y="3799400"/>
            <a:ext cx="720080" cy="503750"/>
            <a:chOff x="2015716" y="1741682"/>
            <a:chExt cx="720000" cy="718538"/>
          </a:xfrm>
        </p:grpSpPr>
        <p:sp>
          <p:nvSpPr>
            <p:cNvPr id="57" name="Textfeld 56"/>
            <p:cNvSpPr txBox="1"/>
            <p:nvPr/>
          </p:nvSpPr>
          <p:spPr>
            <a:xfrm>
              <a:off x="2015716" y="1741682"/>
              <a:ext cx="720000" cy="718538"/>
            </a:xfrm>
            <a:prstGeom prst="rect">
              <a:avLst/>
            </a:prstGeom>
            <a:ln w="19050"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r>
                <a:rPr lang="en-US" dirty="0" smtClean="0"/>
                <a:t>DC</a:t>
              </a:r>
            </a:p>
            <a:p>
              <a:pPr algn="r"/>
              <a:r>
                <a:rPr lang="en-US" dirty="0" smtClean="0"/>
                <a:t>DC</a:t>
              </a:r>
              <a:endParaRPr lang="en-US" dirty="0"/>
            </a:p>
          </p:txBody>
        </p:sp>
        <p:cxnSp>
          <p:nvCxnSpPr>
            <p:cNvPr id="58" name="Gerader Verbinder 57"/>
            <p:cNvCxnSpPr/>
            <p:nvPr/>
          </p:nvCxnSpPr>
          <p:spPr>
            <a:xfrm flipV="1">
              <a:off x="2015716" y="1741682"/>
              <a:ext cx="720000" cy="718538"/>
            </a:xfrm>
            <a:prstGeom prst="line">
              <a:avLst/>
            </a:prstGeom>
            <a:ln w="19050">
              <a:solidFill>
                <a:schemeClr val="accent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9" name="Gerader Verbinder 58"/>
          <p:cNvCxnSpPr/>
          <p:nvPr/>
        </p:nvCxnSpPr>
        <p:spPr>
          <a:xfrm flipH="1">
            <a:off x="3310074" y="4046641"/>
            <a:ext cx="531374" cy="0"/>
          </a:xfrm>
          <a:prstGeom prst="line">
            <a:avLst/>
          </a:prstGeom>
          <a:ln w="19050">
            <a:solidFill>
              <a:schemeClr val="accent5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r Verbinder 59"/>
          <p:cNvCxnSpPr>
            <a:stCxn id="70" idx="1"/>
            <a:endCxn id="57" idx="3"/>
          </p:cNvCxnSpPr>
          <p:nvPr/>
        </p:nvCxnSpPr>
        <p:spPr>
          <a:xfrm flipH="1">
            <a:off x="4576939" y="4051275"/>
            <a:ext cx="439623" cy="0"/>
          </a:xfrm>
          <a:prstGeom prst="line">
            <a:avLst/>
          </a:prstGeom>
          <a:ln w="19050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feld 41"/>
          <p:cNvSpPr txBox="1"/>
          <p:nvPr/>
        </p:nvSpPr>
        <p:spPr>
          <a:xfrm>
            <a:off x="984187" y="3523892"/>
            <a:ext cx="720000" cy="36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dirty="0" smtClean="0"/>
              <a:t>Wind</a:t>
            </a:r>
            <a:endParaRPr lang="en-US" dirty="0"/>
          </a:p>
        </p:txBody>
      </p:sp>
      <p:cxnSp>
        <p:nvCxnSpPr>
          <p:cNvPr id="46" name="Gerader Verbinder 45"/>
          <p:cNvCxnSpPr/>
          <p:nvPr/>
        </p:nvCxnSpPr>
        <p:spPr>
          <a:xfrm flipH="1">
            <a:off x="2728339" y="3703892"/>
            <a:ext cx="581735" cy="1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uppieren 46"/>
          <p:cNvGrpSpPr/>
          <p:nvPr/>
        </p:nvGrpSpPr>
        <p:grpSpPr>
          <a:xfrm>
            <a:off x="2008259" y="3452017"/>
            <a:ext cx="720080" cy="503750"/>
            <a:chOff x="2015716" y="1741682"/>
            <a:chExt cx="720000" cy="718538"/>
          </a:xfrm>
        </p:grpSpPr>
        <p:sp>
          <p:nvSpPr>
            <p:cNvPr id="48" name="Textfeld 47"/>
            <p:cNvSpPr txBox="1"/>
            <p:nvPr/>
          </p:nvSpPr>
          <p:spPr>
            <a:xfrm>
              <a:off x="2015716" y="1741682"/>
              <a:ext cx="720000" cy="718538"/>
            </a:xfrm>
            <a:prstGeom prst="rect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r>
                <a:rPr lang="en-US" dirty="0" smtClean="0"/>
                <a:t>AC</a:t>
              </a:r>
            </a:p>
            <a:p>
              <a:pPr algn="r"/>
              <a:r>
                <a:rPr lang="en-US" dirty="0" smtClean="0"/>
                <a:t>DC</a:t>
              </a:r>
              <a:endParaRPr lang="en-US" dirty="0"/>
            </a:p>
          </p:txBody>
        </p:sp>
        <p:cxnSp>
          <p:nvCxnSpPr>
            <p:cNvPr id="49" name="Gerader Verbinder 48"/>
            <p:cNvCxnSpPr/>
            <p:nvPr/>
          </p:nvCxnSpPr>
          <p:spPr>
            <a:xfrm flipV="1">
              <a:off x="2015716" y="1741682"/>
              <a:ext cx="720000" cy="718538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1" name="Gerader Verbinder 50"/>
          <p:cNvCxnSpPr>
            <a:stCxn id="48" idx="1"/>
            <a:endCxn id="42" idx="3"/>
          </p:cNvCxnSpPr>
          <p:nvPr/>
        </p:nvCxnSpPr>
        <p:spPr>
          <a:xfrm flipH="1">
            <a:off x="1704187" y="3703892"/>
            <a:ext cx="30407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/>
          <p:cNvGrpSpPr/>
          <p:nvPr/>
        </p:nvGrpSpPr>
        <p:grpSpPr>
          <a:xfrm>
            <a:off x="2008259" y="4382668"/>
            <a:ext cx="720080" cy="503750"/>
            <a:chOff x="2015716" y="1741682"/>
            <a:chExt cx="720000" cy="718538"/>
          </a:xfrm>
        </p:grpSpPr>
        <p:sp>
          <p:nvSpPr>
            <p:cNvPr id="40" name="Textfeld 39"/>
            <p:cNvSpPr txBox="1"/>
            <p:nvPr/>
          </p:nvSpPr>
          <p:spPr>
            <a:xfrm>
              <a:off x="2015716" y="1741682"/>
              <a:ext cx="720000" cy="718538"/>
            </a:xfrm>
            <a:prstGeom prst="rect">
              <a:avLst/>
            </a:prstGeom>
            <a:ln w="190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r>
                <a:rPr lang="en-US" dirty="0" smtClean="0"/>
                <a:t>DC</a:t>
              </a:r>
            </a:p>
            <a:p>
              <a:pPr algn="r"/>
              <a:r>
                <a:rPr lang="en-US" dirty="0" smtClean="0"/>
                <a:t>DC</a:t>
              </a:r>
              <a:endParaRPr lang="en-US" dirty="0"/>
            </a:p>
          </p:txBody>
        </p:sp>
        <p:cxnSp>
          <p:nvCxnSpPr>
            <p:cNvPr id="41" name="Gerader Verbinder 40"/>
            <p:cNvCxnSpPr/>
            <p:nvPr/>
          </p:nvCxnSpPr>
          <p:spPr>
            <a:xfrm flipV="1">
              <a:off x="2015716" y="1741682"/>
              <a:ext cx="720000" cy="718538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Gerader Verbinder 51"/>
          <p:cNvCxnSpPr/>
          <p:nvPr/>
        </p:nvCxnSpPr>
        <p:spPr>
          <a:xfrm flipH="1">
            <a:off x="1704187" y="4629260"/>
            <a:ext cx="30407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feld 52"/>
          <p:cNvSpPr txBox="1"/>
          <p:nvPr/>
        </p:nvSpPr>
        <p:spPr>
          <a:xfrm>
            <a:off x="791580" y="4457537"/>
            <a:ext cx="967354" cy="36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dirty="0" smtClean="0"/>
              <a:t>Battery</a:t>
            </a:r>
            <a:endParaRPr lang="en-US" dirty="0"/>
          </a:p>
        </p:txBody>
      </p:sp>
      <p:sp>
        <p:nvSpPr>
          <p:cNvPr id="54" name="Textplatzhalter 1"/>
          <p:cNvSpPr txBox="1">
            <a:spLocks/>
          </p:cNvSpPr>
          <p:nvPr/>
        </p:nvSpPr>
        <p:spPr>
          <a:xfrm>
            <a:off x="5436200" y="1523076"/>
            <a:ext cx="3276000" cy="15583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0" indent="0" algn="l" defTabSz="792234" rtl="0" eaLnBrk="1" latinLnBrk="0" hangingPunct="1">
              <a:spcBef>
                <a:spcPts val="1560"/>
              </a:spcBef>
              <a:buFont typeface="Arial" pitchFamily="34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2444" indent="-232444" algn="l" defTabSz="792234" rtl="0" eaLnBrk="1" latinLnBrk="0" hangingPunct="1">
              <a:spcBef>
                <a:spcPts val="693"/>
              </a:spcBef>
              <a:buClr>
                <a:schemeClr val="accent1"/>
              </a:buClr>
              <a:buFont typeface="Wingdings" pitchFamily="2" charset="2"/>
              <a:buChar char="n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4887" indent="-233820" algn="l" defTabSz="792234" rtl="0" eaLnBrk="1" latinLnBrk="0" hangingPunct="1">
              <a:spcBef>
                <a:spcPts val="520"/>
              </a:spcBef>
              <a:buClr>
                <a:srgbClr val="00549F"/>
              </a:buClr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7331" indent="-232444" algn="l" defTabSz="792234" rtl="0" eaLnBrk="1" latinLnBrk="0" hangingPunct="1">
              <a:spcBef>
                <a:spcPts val="260"/>
              </a:spcBef>
              <a:buClr>
                <a:schemeClr val="accent2"/>
              </a:buClr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97331" indent="0" algn="l" defTabSz="792234" rtl="0" eaLnBrk="1" latinLnBrk="0" hangingPunct="1">
              <a:spcBef>
                <a:spcPts val="26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78644" indent="-198059" algn="l" defTabSz="79223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74760" indent="-198059" algn="l" defTabSz="79223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0876" indent="-198059" algn="l" defTabSz="79223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66993" indent="-198059" algn="l" defTabSz="79223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Independent DC bus voltage</a:t>
            </a:r>
          </a:p>
          <a:p>
            <a:pPr lvl="1"/>
            <a:r>
              <a:rPr lang="en-US" dirty="0" smtClean="0"/>
              <a:t>DC bus voltage defines system state (</a:t>
            </a:r>
            <a:r>
              <a:rPr lang="en-US" dirty="0" smtClean="0">
                <a:sym typeface="Wingdings" panose="05000000000000000000" pitchFamily="2" charset="2"/>
              </a:rPr>
              <a:t> basic communication)</a:t>
            </a:r>
            <a:endParaRPr lang="en-US" dirty="0" smtClean="0"/>
          </a:p>
          <a:p>
            <a:pPr lvl="1"/>
            <a:r>
              <a:rPr lang="en-US" dirty="0" smtClean="0"/>
              <a:t>Load prioritization via different disconnect set-points possible</a:t>
            </a:r>
          </a:p>
        </p:txBody>
      </p:sp>
    </p:spTree>
    <p:extLst>
      <p:ext uri="{BB962C8B-B14F-4D97-AF65-F5344CB8AC3E}">
        <p14:creationId xmlns:p14="http://schemas.microsoft.com/office/powerpoint/2010/main" val="163731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el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073261"/>
              </p:ext>
            </p:extLst>
          </p:nvPr>
        </p:nvGraphicFramePr>
        <p:xfrm>
          <a:off x="444376" y="987199"/>
          <a:ext cx="8267825" cy="4404360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52722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2871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7797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7797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7797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77971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68166">
                <a:tc rowSpan="2">
                  <a:txBody>
                    <a:bodyPr/>
                    <a:lstStyle/>
                    <a:p>
                      <a:r>
                        <a:rPr lang="en-US" sz="1400" dirty="0" smtClean="0"/>
                        <a:t>54 V</a:t>
                      </a:r>
                      <a:endParaRPr lang="en-US" sz="1400" dirty="0"/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68166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68166">
                <a:tc rowSpan="2">
                  <a:txBody>
                    <a:bodyPr/>
                    <a:lstStyle/>
                    <a:p>
                      <a:r>
                        <a:rPr lang="en-US" sz="1400" dirty="0" smtClean="0"/>
                        <a:t>52 V</a:t>
                      </a:r>
                      <a:endParaRPr lang="en-US" sz="1400" dirty="0"/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68166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68166">
                <a:tc rowSpan="2">
                  <a:txBody>
                    <a:bodyPr/>
                    <a:lstStyle/>
                    <a:p>
                      <a:r>
                        <a:rPr lang="en-US" sz="1400" dirty="0" smtClean="0"/>
                        <a:t>50 V</a:t>
                      </a:r>
                      <a:endParaRPr lang="en-US" sz="1400" dirty="0"/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68166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68166">
                <a:tc rowSpan="2">
                  <a:txBody>
                    <a:bodyPr/>
                    <a:lstStyle/>
                    <a:p>
                      <a:r>
                        <a:rPr lang="en-US" sz="1400" dirty="0" smtClean="0"/>
                        <a:t>48 V</a:t>
                      </a:r>
                      <a:endParaRPr lang="en-US" sz="1400" dirty="0"/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68166">
                <a:tc v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68166">
                <a:tc rowSpan="2">
                  <a:txBody>
                    <a:bodyPr/>
                    <a:lstStyle/>
                    <a:p>
                      <a:r>
                        <a:rPr lang="en-US" sz="1400" dirty="0" smtClean="0"/>
                        <a:t>46 V</a:t>
                      </a:r>
                      <a:endParaRPr lang="en-US" sz="1400" dirty="0"/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68166">
                <a:tc v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168166">
                <a:tc rowSpan="2">
                  <a:txBody>
                    <a:bodyPr/>
                    <a:lstStyle/>
                    <a:p>
                      <a:r>
                        <a:rPr lang="en-US" sz="1400" dirty="0" smtClean="0"/>
                        <a:t>44 V</a:t>
                      </a:r>
                      <a:endParaRPr lang="en-US" sz="1400" dirty="0"/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68166">
                <a:tc v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68166">
                <a:tc rowSpan="2">
                  <a:txBody>
                    <a:bodyPr/>
                    <a:lstStyle/>
                    <a:p>
                      <a:r>
                        <a:rPr lang="en-US" sz="1400" dirty="0" smtClean="0"/>
                        <a:t>42 V</a:t>
                      </a:r>
                      <a:endParaRPr lang="en-US" sz="1400" dirty="0"/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168166">
                <a:tc v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168166">
                <a:tc rowSpan="2">
                  <a:txBody>
                    <a:bodyPr/>
                    <a:lstStyle/>
                    <a:p>
                      <a:r>
                        <a:rPr lang="en-US" sz="1400" dirty="0" smtClean="0"/>
                        <a:t>40 V</a:t>
                      </a:r>
                      <a:endParaRPr lang="en-US" sz="1400" dirty="0"/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168166"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168166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45720" marR="4572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</a:tbl>
          </a:graphicData>
        </a:graphic>
      </p:graphicFrame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DC bus signaling example for 48 V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 smtClean="0"/>
              <a:t>33C3 | 30/12/2016 | Martin Jäger</a:t>
            </a:r>
            <a:endParaRPr lang="en-US" dirty="0"/>
          </a:p>
        </p:txBody>
      </p:sp>
      <p:sp>
        <p:nvSpPr>
          <p:cNvPr id="15" name="Rechteck 14"/>
          <p:cNvSpPr/>
          <p:nvPr/>
        </p:nvSpPr>
        <p:spPr>
          <a:xfrm>
            <a:off x="4842044" y="5249745"/>
            <a:ext cx="1152128" cy="25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ctr"/>
            <a:r>
              <a:rPr lang="en-US" sz="1400" dirty="0" smtClean="0">
                <a:solidFill>
                  <a:schemeClr val="bg1"/>
                </a:solidFill>
              </a:rPr>
              <a:t>Producer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6" name="Rechteck 15"/>
          <p:cNvSpPr/>
          <p:nvPr/>
        </p:nvSpPr>
        <p:spPr>
          <a:xfrm>
            <a:off x="6325799" y="5249745"/>
            <a:ext cx="1152128" cy="25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ctr"/>
            <a:r>
              <a:rPr lang="en-US" sz="1400" dirty="0" smtClean="0">
                <a:solidFill>
                  <a:schemeClr val="bg1"/>
                </a:solidFill>
              </a:rPr>
              <a:t>Consumer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Rechteck 16"/>
          <p:cNvSpPr/>
          <p:nvPr/>
        </p:nvSpPr>
        <p:spPr>
          <a:xfrm>
            <a:off x="1554123" y="3325552"/>
            <a:ext cx="252000" cy="16921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r>
              <a:rPr lang="en-US" sz="1400" dirty="0" smtClean="0">
                <a:solidFill>
                  <a:schemeClr val="bg1"/>
                </a:solidFill>
              </a:rPr>
              <a:t>Bat 100% SOC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8" name="Rechteck 17"/>
          <p:cNvSpPr/>
          <p:nvPr/>
        </p:nvSpPr>
        <p:spPr>
          <a:xfrm>
            <a:off x="1554122" y="2807194"/>
            <a:ext cx="252000" cy="51835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hteck 18"/>
          <p:cNvSpPr/>
          <p:nvPr/>
        </p:nvSpPr>
        <p:spPr>
          <a:xfrm>
            <a:off x="1554122" y="2807193"/>
            <a:ext cx="252000" cy="2210547"/>
          </a:xfrm>
          <a:prstGeom prst="rect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hteck 20"/>
          <p:cNvSpPr/>
          <p:nvPr/>
        </p:nvSpPr>
        <p:spPr>
          <a:xfrm>
            <a:off x="2087725" y="3591020"/>
            <a:ext cx="252000" cy="1426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r>
              <a:rPr lang="en-US" sz="1400" dirty="0" smtClean="0">
                <a:solidFill>
                  <a:schemeClr val="bg1"/>
                </a:solidFill>
              </a:rPr>
              <a:t>Bat 50% SOC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2" name="Rechteck 21"/>
          <p:cNvSpPr/>
          <p:nvPr/>
        </p:nvSpPr>
        <p:spPr>
          <a:xfrm>
            <a:off x="2082806" y="3072661"/>
            <a:ext cx="252000" cy="51835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hteck 22"/>
          <p:cNvSpPr/>
          <p:nvPr/>
        </p:nvSpPr>
        <p:spPr>
          <a:xfrm>
            <a:off x="2087724" y="3072661"/>
            <a:ext cx="252000" cy="1945078"/>
          </a:xfrm>
          <a:prstGeom prst="rect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hteck 23"/>
          <p:cNvSpPr/>
          <p:nvPr/>
        </p:nvSpPr>
        <p:spPr>
          <a:xfrm>
            <a:off x="2082806" y="1237253"/>
            <a:ext cx="252000" cy="87257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7" name="Rechteck 26"/>
          <p:cNvSpPr/>
          <p:nvPr/>
        </p:nvSpPr>
        <p:spPr>
          <a:xfrm rot="10800000">
            <a:off x="2082806" y="2015106"/>
            <a:ext cx="252000" cy="51835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hteck 27"/>
          <p:cNvSpPr/>
          <p:nvPr/>
        </p:nvSpPr>
        <p:spPr>
          <a:xfrm>
            <a:off x="2082808" y="1237253"/>
            <a:ext cx="252000" cy="1296210"/>
          </a:xfrm>
          <a:prstGeom prst="rect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hteck 29"/>
          <p:cNvSpPr/>
          <p:nvPr/>
        </p:nvSpPr>
        <p:spPr>
          <a:xfrm>
            <a:off x="2611489" y="1232503"/>
            <a:ext cx="252000" cy="10563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1" name="Rechteck 30"/>
          <p:cNvSpPr/>
          <p:nvPr/>
        </p:nvSpPr>
        <p:spPr>
          <a:xfrm rot="10800000">
            <a:off x="2611489" y="2291759"/>
            <a:ext cx="252000" cy="51835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hteck 31"/>
          <p:cNvSpPr/>
          <p:nvPr/>
        </p:nvSpPr>
        <p:spPr>
          <a:xfrm>
            <a:off x="2611491" y="1232503"/>
            <a:ext cx="252000" cy="1574690"/>
          </a:xfrm>
          <a:prstGeom prst="rect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hteck 32"/>
          <p:cNvSpPr/>
          <p:nvPr/>
        </p:nvSpPr>
        <p:spPr>
          <a:xfrm>
            <a:off x="2611489" y="3591019"/>
            <a:ext cx="252000" cy="1426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r>
              <a:rPr lang="en-US" sz="1400" dirty="0" smtClean="0"/>
              <a:t>Bat 0% SOC</a:t>
            </a:r>
            <a:endParaRPr lang="en-US" sz="1400" dirty="0"/>
          </a:p>
        </p:txBody>
      </p:sp>
      <p:grpSp>
        <p:nvGrpSpPr>
          <p:cNvPr id="63" name="Gruppieren 62"/>
          <p:cNvGrpSpPr/>
          <p:nvPr/>
        </p:nvGrpSpPr>
        <p:grpSpPr>
          <a:xfrm>
            <a:off x="4283968" y="1242310"/>
            <a:ext cx="255634" cy="3775429"/>
            <a:chOff x="4283968" y="1242310"/>
            <a:chExt cx="255634" cy="3775429"/>
          </a:xfrm>
        </p:grpSpPr>
        <p:sp>
          <p:nvSpPr>
            <p:cNvPr id="34" name="Rechteck 33"/>
            <p:cNvSpPr/>
            <p:nvPr/>
          </p:nvSpPr>
          <p:spPr>
            <a:xfrm>
              <a:off x="4283969" y="1489075"/>
              <a:ext cx="252000" cy="35286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Renewable Energy Source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35" name="Rechteck 34"/>
            <p:cNvSpPr/>
            <p:nvPr/>
          </p:nvSpPr>
          <p:spPr>
            <a:xfrm>
              <a:off x="4287602" y="1242310"/>
              <a:ext cx="252000" cy="246765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hteck 35"/>
            <p:cNvSpPr/>
            <p:nvPr/>
          </p:nvSpPr>
          <p:spPr>
            <a:xfrm>
              <a:off x="4283968" y="1242311"/>
              <a:ext cx="252000" cy="3775428"/>
            </a:xfrm>
            <a:prstGeom prst="rect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2" name="Gruppieren 61"/>
          <p:cNvGrpSpPr/>
          <p:nvPr/>
        </p:nvGrpSpPr>
        <p:grpSpPr>
          <a:xfrm>
            <a:off x="3131840" y="1242145"/>
            <a:ext cx="265476" cy="3775594"/>
            <a:chOff x="3131840" y="1242145"/>
            <a:chExt cx="265476" cy="3775594"/>
          </a:xfrm>
        </p:grpSpPr>
        <p:sp>
          <p:nvSpPr>
            <p:cNvPr id="40" name="Rechteck 39"/>
            <p:cNvSpPr/>
            <p:nvPr/>
          </p:nvSpPr>
          <p:spPr>
            <a:xfrm>
              <a:off x="3139862" y="3827428"/>
              <a:ext cx="252000" cy="119031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AC grid tied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41" name="Rechteck 40"/>
            <p:cNvSpPr/>
            <p:nvPr/>
          </p:nvSpPr>
          <p:spPr>
            <a:xfrm>
              <a:off x="3139862" y="3311377"/>
              <a:ext cx="252000" cy="518358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hteck 41"/>
            <p:cNvSpPr/>
            <p:nvPr/>
          </p:nvSpPr>
          <p:spPr>
            <a:xfrm>
              <a:off x="3145316" y="3316757"/>
              <a:ext cx="252000" cy="1700982"/>
            </a:xfrm>
            <a:prstGeom prst="rect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hteck 42"/>
            <p:cNvSpPr/>
            <p:nvPr/>
          </p:nvSpPr>
          <p:spPr>
            <a:xfrm>
              <a:off x="3138578" y="1242145"/>
              <a:ext cx="252000" cy="23423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pPr algn="ctr"/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44" name="Rechteck 43"/>
            <p:cNvSpPr/>
            <p:nvPr/>
          </p:nvSpPr>
          <p:spPr>
            <a:xfrm rot="10800000">
              <a:off x="3138578" y="1464056"/>
              <a:ext cx="252000" cy="518358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Rechteck 44"/>
            <p:cNvSpPr/>
            <p:nvPr/>
          </p:nvSpPr>
          <p:spPr>
            <a:xfrm>
              <a:off x="3131840" y="1242145"/>
              <a:ext cx="252000" cy="760261"/>
            </a:xfrm>
            <a:prstGeom prst="rect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4" name="Gruppieren 63"/>
          <p:cNvGrpSpPr/>
          <p:nvPr/>
        </p:nvGrpSpPr>
        <p:grpSpPr>
          <a:xfrm>
            <a:off x="4804192" y="3591018"/>
            <a:ext cx="262908" cy="1421341"/>
            <a:chOff x="4804192" y="3591018"/>
            <a:chExt cx="262908" cy="1421341"/>
          </a:xfrm>
        </p:grpSpPr>
        <p:sp>
          <p:nvSpPr>
            <p:cNvPr id="48" name="Rechteck 47"/>
            <p:cNvSpPr/>
            <p:nvPr/>
          </p:nvSpPr>
          <p:spPr>
            <a:xfrm>
              <a:off x="4804192" y="4004090"/>
              <a:ext cx="252000" cy="100826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Diesel gen.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49" name="Rechteck 48"/>
            <p:cNvSpPr/>
            <p:nvPr/>
          </p:nvSpPr>
          <p:spPr>
            <a:xfrm>
              <a:off x="4815100" y="3591018"/>
              <a:ext cx="252000" cy="414584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Rechteck 49"/>
            <p:cNvSpPr/>
            <p:nvPr/>
          </p:nvSpPr>
          <p:spPr>
            <a:xfrm>
              <a:off x="4809646" y="3591019"/>
              <a:ext cx="252000" cy="1421340"/>
            </a:xfrm>
            <a:prstGeom prst="rect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7" name="Gruppieren 66"/>
          <p:cNvGrpSpPr/>
          <p:nvPr/>
        </p:nvGrpSpPr>
        <p:grpSpPr>
          <a:xfrm>
            <a:off x="7308332" y="1237320"/>
            <a:ext cx="252000" cy="3780418"/>
            <a:chOff x="7308332" y="1237320"/>
            <a:chExt cx="252000" cy="3780418"/>
          </a:xfrm>
        </p:grpSpPr>
        <p:sp>
          <p:nvSpPr>
            <p:cNvPr id="46" name="Rechteck 45"/>
            <p:cNvSpPr/>
            <p:nvPr/>
          </p:nvSpPr>
          <p:spPr>
            <a:xfrm rot="10800000">
              <a:off x="7308332" y="1237321"/>
              <a:ext cx="252000" cy="518358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echteck 46"/>
            <p:cNvSpPr/>
            <p:nvPr/>
          </p:nvSpPr>
          <p:spPr>
            <a:xfrm>
              <a:off x="7308332" y="1237320"/>
              <a:ext cx="252000" cy="518359"/>
            </a:xfrm>
            <a:prstGeom prst="rect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hteck 50"/>
            <p:cNvSpPr/>
            <p:nvPr/>
          </p:nvSpPr>
          <p:spPr>
            <a:xfrm>
              <a:off x="7308332" y="2533463"/>
              <a:ext cx="252000" cy="24842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r>
                <a:rPr lang="en-US" sz="1400" dirty="0" smtClean="0"/>
                <a:t>Electric heater / dump load</a:t>
              </a:r>
              <a:endParaRPr lang="en-US" sz="1400" dirty="0"/>
            </a:p>
          </p:txBody>
        </p:sp>
      </p:grpSp>
      <p:grpSp>
        <p:nvGrpSpPr>
          <p:cNvPr id="65" name="Gruppieren 64"/>
          <p:cNvGrpSpPr/>
          <p:nvPr/>
        </p:nvGrpSpPr>
        <p:grpSpPr>
          <a:xfrm>
            <a:off x="6268996" y="1227512"/>
            <a:ext cx="252002" cy="3646211"/>
            <a:chOff x="6268996" y="1227512"/>
            <a:chExt cx="252002" cy="3646211"/>
          </a:xfrm>
        </p:grpSpPr>
        <p:sp>
          <p:nvSpPr>
            <p:cNvPr id="52" name="Rechteck 51"/>
            <p:cNvSpPr/>
            <p:nvPr/>
          </p:nvSpPr>
          <p:spPr>
            <a:xfrm>
              <a:off x="6268996" y="1227513"/>
              <a:ext cx="252000" cy="312785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pPr algn="r"/>
              <a:r>
                <a:rPr lang="en-US" sz="1400" dirty="0" smtClean="0">
                  <a:solidFill>
                    <a:schemeClr val="bg1"/>
                  </a:solidFill>
                </a:rPr>
                <a:t>High priority load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53" name="Rechteck 52"/>
            <p:cNvSpPr/>
            <p:nvPr/>
          </p:nvSpPr>
          <p:spPr>
            <a:xfrm rot="10800000">
              <a:off x="6268996" y="4355365"/>
              <a:ext cx="252000" cy="518358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Rechteck 53"/>
            <p:cNvSpPr/>
            <p:nvPr/>
          </p:nvSpPr>
          <p:spPr>
            <a:xfrm>
              <a:off x="6268998" y="1227512"/>
              <a:ext cx="252000" cy="3646211"/>
            </a:xfrm>
            <a:prstGeom prst="rect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6" name="Gruppieren 65"/>
          <p:cNvGrpSpPr/>
          <p:nvPr/>
        </p:nvGrpSpPr>
        <p:grpSpPr>
          <a:xfrm>
            <a:off x="6807361" y="1237252"/>
            <a:ext cx="252002" cy="3118113"/>
            <a:chOff x="6807361" y="1237252"/>
            <a:chExt cx="252002" cy="3118113"/>
          </a:xfrm>
        </p:grpSpPr>
        <p:sp>
          <p:nvSpPr>
            <p:cNvPr id="56" name="Rechteck 55"/>
            <p:cNvSpPr/>
            <p:nvPr/>
          </p:nvSpPr>
          <p:spPr>
            <a:xfrm>
              <a:off x="6807361" y="1237253"/>
              <a:ext cx="252000" cy="259975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270" rtlCol="0" anchor="ctr"/>
            <a:lstStyle/>
            <a:p>
              <a:pPr algn="r"/>
              <a:r>
                <a:rPr lang="en-US" sz="1400" dirty="0" smtClean="0">
                  <a:solidFill>
                    <a:schemeClr val="bg1"/>
                  </a:solidFill>
                </a:rPr>
                <a:t>Low priority load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57" name="Rechteck 56"/>
            <p:cNvSpPr/>
            <p:nvPr/>
          </p:nvSpPr>
          <p:spPr>
            <a:xfrm rot="10800000">
              <a:off x="6807361" y="3837007"/>
              <a:ext cx="252000" cy="518358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Rechteck 57"/>
            <p:cNvSpPr/>
            <p:nvPr/>
          </p:nvSpPr>
          <p:spPr>
            <a:xfrm>
              <a:off x="6807363" y="1237252"/>
              <a:ext cx="252000" cy="3118113"/>
            </a:xfrm>
            <a:prstGeom prst="rect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9" name="Textfeld 58"/>
          <p:cNvSpPr txBox="1"/>
          <p:nvPr/>
        </p:nvSpPr>
        <p:spPr>
          <a:xfrm>
            <a:off x="1560112" y="862762"/>
            <a:ext cx="19677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Energy Storage</a:t>
            </a:r>
            <a:endParaRPr lang="en-US" dirty="0"/>
          </a:p>
        </p:txBody>
      </p:sp>
      <p:sp>
        <p:nvSpPr>
          <p:cNvPr id="60" name="Textfeld 59"/>
          <p:cNvSpPr txBox="1"/>
          <p:nvPr/>
        </p:nvSpPr>
        <p:spPr>
          <a:xfrm>
            <a:off x="3689613" y="862762"/>
            <a:ext cx="19677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Sources</a:t>
            </a:r>
            <a:endParaRPr lang="en-US" dirty="0"/>
          </a:p>
        </p:txBody>
      </p:sp>
      <p:sp>
        <p:nvSpPr>
          <p:cNvPr id="61" name="Textfeld 60"/>
          <p:cNvSpPr txBox="1"/>
          <p:nvPr/>
        </p:nvSpPr>
        <p:spPr>
          <a:xfrm>
            <a:off x="5994172" y="862762"/>
            <a:ext cx="19677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Loads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858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#10;&lt;root reqver=&quot;17839&quot;&gt;&lt;version val=&quot;21119&quot;/&gt;&lt;CPresentation id=&quot;1&quot;&gt;&lt;m_defprecNumber idref=&quot;2&quot;/&gt;&lt;m_defprecPercent idref=&quot;3&quot;/&gt;&lt;m_defprecDate idref=&quot;4&quot;/&gt;&lt;m_defprecYear idref=&quot;5&quot;/&gt;&lt;m_defprecQuarter idref=&quot;6&quot;/&gt;&lt;m_defprecMonth idref=&quot;7&quot;/&gt;&lt;m_defprecWeek idref=&quot;8&quot;/&gt;&lt;m_defprecDay idref=&quot;9&quot;/&gt;&lt;m_mruColor&gt;&lt;m_vecMRU length=&quot;1&quot;&gt;&lt;elem m_fUsage=&quot;1.00000000000000000000E+000&quot;&gt;&lt;m_ppcolschidx val=&quot;0&quot;/&gt;&lt;m_rgb r=&quot;fb&quot; g=&quot;e1&quot; b=&quot;e5&quot;/&gt;&lt;/elem&gt;&lt;/m_vecMRU&gt;&lt;/m_mruColor&gt;&lt;m_mapectfillschemeMRU/&gt;&lt;m_eweekdayFirstOfWeek val=&quot;2&quot;/&gt;&lt;m_eweekdayFirstOfWorkweek val=&quot;2&quot;/&gt;&lt;m_eweekdayFirstOfWeekend val=&quot;7&quot;/&gt;&lt;/CPresentation&gt;&lt;CDefaultPrec id=&quot;9&quot;&gt;&lt;m_precDefault/&gt;&lt;/CDefaultPrec&gt;&lt;CDefaultPrec id=&quot;8&quot;&gt;&lt;m_precDefault/&gt;&lt;/CDefaultPrec&gt;&lt;CDefaultPrec id=&quot;7&quot;&gt;&lt;m_precDefault/&gt;&lt;/CDefaultPrec&gt;&lt;CDefaultPrec id=&quot;6&quot;&gt;&lt;m_precDefault/&gt;&lt;/CDefaultPrec&gt;&lt;CDefaultPrec id=&quot;5&quot;&gt;&lt;m_precDefault/&gt;&lt;/CDefaultPrec&gt;&lt;CDefaultPrec id=&quot;4&quot;&gt;&lt;m_precDefault/&gt;&lt;/CDefaultPrec&gt;&lt;CDefaultPrec id=&quot;3&quot;&gt;&lt;m_precDefault/&gt;&lt;/CDefaultPrec&gt;&lt;CDefaultPrec id=&quot;2&quot;&gt;&lt;m_precDefault&gt;&lt;m_chDecimalSymbol&gt;,&lt;/m_chDecimalSymbol&gt;&lt;m_nGroupingDigits val=&quot;3&quot;/&gt;&lt;m_chGroupingSymbol&gt;.&lt;/m_chGroupingSymbol&gt;&lt;m_chDecimalSymbol17909&gt;,&lt;/m_chDecimalSymbol17909&gt;&lt;m_nGroupingDigits17909 val=&quot;3&quot;/&gt;&lt;m_chGroupingSymbol17909&gt;.&lt;/m_chGroupingSymbol17909&gt;&lt;/m_precDefault&gt;&lt;/CDefaultPrec&gt;&lt;/root&gt;"/>
  <p:tag name="THINKCELLUNDODONOTDELETE" val="115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6YT_w.pE02abziKOOMd_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o4LU_Lx7ESbTOwym8JMi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ySa8S9uzUOiMCjv87T9E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KLv2KmPFEaoRHP9bZUCI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0QvT_Z1Ui2SHWsa6dYb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57dSV_4J0qOXLExS5yY3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XE85nags0KT6lQlxlveU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57dSV_4J0qOXLExS5yY3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57dSV_4J0qOXLExS5yY3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zscLwsb8Uy9x71QBO2DV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57dSV_4J0qOXLExS5yY3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zscLwsb8Uy9x71QBO2DV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57dSV_4J0qOXLExS5yY3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A1o4vkzFUuip.uZaOaEZA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WIgFVtrfkKxavZ_Uql4L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ii786PJYU6N87zuGhW7g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zscLwsb8Uy9x71QBO2DV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57dSV_4J0qOXLExS5yY3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zscLwsb8Uy9x71QBO2DV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57dSV_4J0qOXLExS5yY3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zscLwsb8Uy9x71QBO2DV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57dSV_4J0qOXLExS5yY3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H1UFrTPxESTs_oF_.upxA"/>
</p:tagLst>
</file>

<file path=ppt/theme/theme1.xml><?xml version="1.0" encoding="utf-8"?>
<a:theme xmlns:a="http://schemas.openxmlformats.org/drawingml/2006/main" name="VKA-PPTX-Template_MJ">
  <a:themeElements>
    <a:clrScheme name="Benutzerdefiniert 1">
      <a:dk1>
        <a:srgbClr val="000000"/>
      </a:dk1>
      <a:lt1>
        <a:srgbClr val="FFFFFF"/>
      </a:lt1>
      <a:dk2>
        <a:srgbClr val="8EBAE5"/>
      </a:dk2>
      <a:lt2>
        <a:srgbClr val="A9A9A9"/>
      </a:lt2>
      <a:accent1>
        <a:srgbClr val="005E85"/>
      </a:accent1>
      <a:accent2>
        <a:srgbClr val="6B6B6B"/>
      </a:accent2>
      <a:accent3>
        <a:srgbClr val="CC071E"/>
      </a:accent3>
      <a:accent4>
        <a:srgbClr val="FFED00"/>
      </a:accent4>
      <a:accent5>
        <a:srgbClr val="57AB27"/>
      </a:accent5>
      <a:accent6>
        <a:srgbClr val="5C9AAF"/>
      </a:accent6>
      <a:hlink>
        <a:srgbClr val="00549F"/>
      </a:hlink>
      <a:folHlink>
        <a:srgbClr val="00549F"/>
      </a:folHlink>
    </a:clrScheme>
    <a:fontScheme name="Designschriften FEV Motorentechni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bg2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FEVSettings>
  <Version>5.5.3.0</Version>
  <Agenda>
    <Paths/>
    <title>Agenda</title>
    <emptyfirst>false</emptyfirst>
    <slidesnumber>false</slidesnumber>
    <twofocus>false</twofocus>
    <Autocollaps>false</Autocollaps>
    <insert>false</insert>
    <method1>false</method1>
    <method2>true</method2>
    <includesection>false</includesection>
    <includesublevel>false</includesublevel>
  </Agenda>
  <MyChecker/>
</FEVSettings>
</file>

<file path=customXml/itemProps1.xml><?xml version="1.0" encoding="utf-8"?>
<ds:datastoreItem xmlns:ds="http://schemas.openxmlformats.org/officeDocument/2006/customXml" ds:itemID="{F4EF200D-3C40-47B8-BF53-006535A98B9D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360</Words>
  <Application>Microsoft Office PowerPoint</Application>
  <PresentationFormat>Bildschirmpräsentation (16:10)</PresentationFormat>
  <Paragraphs>126</Paragraphs>
  <Slides>8</Slides>
  <Notes>6</Notes>
  <HiddenSlides>3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Arial</vt:lpstr>
      <vt:lpstr>Calibri</vt:lpstr>
      <vt:lpstr>Wingdings</vt:lpstr>
      <vt:lpstr>VKA-PPTX-Template_MJ</vt:lpstr>
      <vt:lpstr>think-cell Slide</vt:lpstr>
      <vt:lpstr>DC Nano grid based on  open source renewable energy electronics</vt:lpstr>
      <vt:lpstr>Current uni-directional electricity grid</vt:lpstr>
      <vt:lpstr>DC nano-grid with Open Source Hardware</vt:lpstr>
      <vt:lpstr>PowerPoint-Präsentation</vt:lpstr>
      <vt:lpstr>PowerPoint-Präsentation</vt:lpstr>
      <vt:lpstr>Battery-dominated low voltage DC grid</vt:lpstr>
      <vt:lpstr>Low voltage DC grid with bus signaling</vt:lpstr>
      <vt:lpstr>DC bus signaling example for 48 V</vt:lpstr>
    </vt:vector>
  </TitlesOfParts>
  <Company>FEV GmbH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Arial 28pt, bold, black,  should not exceed 3 lines</dc:title>
  <dc:creator>Martin Jäger</dc:creator>
  <cp:lastModifiedBy>Jäger, Martin</cp:lastModifiedBy>
  <cp:revision>240</cp:revision>
  <cp:lastPrinted>2012-01-25T00:01:36Z</cp:lastPrinted>
  <dcterms:created xsi:type="dcterms:W3CDTF">2012-04-04T09:09:45Z</dcterms:created>
  <dcterms:modified xsi:type="dcterms:W3CDTF">2018-06-18T13:27:54Z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EVSettings">
    <vt:lpwstr>{F4EF200D-3C40-47B8-BF53-006535A98B9D}</vt:lpwstr>
  </property>
</Properties>
</file>